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4.xml" ContentType="application/vnd.openxmlformats-officedocument.presentationml.slide+xml"/>
  <Override PartName="/ppt/slides/slide11.xml" ContentType="application/vnd.openxmlformats-officedocument.presentationml.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notesSlides/notesSlide17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7.xml" ContentType="application/vnd.openxmlformats-officedocument.presentationml.slid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5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6858000" type="screen4x3"/>
  <p:notesSz cx="6858000" cy="9144000"/>
  <p:defaultTextStyle>
    <a:lvl1pPr marL="0" indent="0" algn="l" defTabSz="914400" rtl="0">
      <a:lnSpc>
        <a:spcPct val="100000"/>
      </a:lnSpc>
      <a:spcBef>
        <a:spcPts val="0"/>
      </a:spcBef>
      <a:spcAft>
        <a:spcPts val="0"/>
      </a:spcAft>
      <a:buNone/>
      <a:defRPr lang="es-ES" sz="1800" b="0" i="0">
        <a:solidFill>
          <a:schemeClr val="dk1"/>
        </a:solidFill>
        <a:latin typeface="Arial"/>
      </a:defRPr>
    </a:lvl1pPr>
    <a:lvl2pPr marL="457200" indent="457200" algn="l" defTabSz="914400" rtl="0">
      <a:lnSpc>
        <a:spcPct val="100000"/>
      </a:lnSpc>
      <a:spcBef>
        <a:spcPts val="0"/>
      </a:spcBef>
      <a:spcAft>
        <a:spcPts val="0"/>
      </a:spcAft>
      <a:buNone/>
      <a:defRPr lang="es-ES" sz="1800" b="0" i="0">
        <a:solidFill>
          <a:schemeClr val="dk1"/>
        </a:solidFill>
        <a:latin typeface="Arial"/>
      </a:defRPr>
    </a:lvl2pPr>
    <a:lvl3pPr marL="914400" indent="914400" algn="l" defTabSz="914400" rtl="0">
      <a:lnSpc>
        <a:spcPct val="100000"/>
      </a:lnSpc>
      <a:spcBef>
        <a:spcPts val="0"/>
      </a:spcBef>
      <a:spcAft>
        <a:spcPts val="0"/>
      </a:spcAft>
      <a:buNone/>
      <a:defRPr lang="es-ES" sz="1800" b="0" i="0">
        <a:solidFill>
          <a:schemeClr val="dk1"/>
        </a:solidFill>
        <a:latin typeface="Arial"/>
      </a:defRPr>
    </a:lvl3pPr>
    <a:lvl4pPr marL="1371600" indent="1371600" algn="l" defTabSz="914400" rtl="0">
      <a:lnSpc>
        <a:spcPct val="100000"/>
      </a:lnSpc>
      <a:spcBef>
        <a:spcPts val="0"/>
      </a:spcBef>
      <a:spcAft>
        <a:spcPts val="0"/>
      </a:spcAft>
      <a:buNone/>
      <a:defRPr lang="es-ES" sz="1800" b="0" i="0">
        <a:solidFill>
          <a:schemeClr val="dk1"/>
        </a:solidFill>
        <a:latin typeface="Arial"/>
      </a:defRPr>
    </a:lvl4pPr>
    <a:lvl5pPr marL="1828800" indent="1828800" algn="l" defTabSz="914400" rtl="0">
      <a:lnSpc>
        <a:spcPct val="100000"/>
      </a:lnSpc>
      <a:spcBef>
        <a:spcPts val="0"/>
      </a:spcBef>
      <a:spcAft>
        <a:spcPts val="0"/>
      </a:spcAft>
      <a:buNone/>
      <a:defRPr lang="es-ES" sz="1800" b="0" i="0">
        <a:solidFill>
          <a:schemeClr val="dk1"/>
        </a:solidFill>
        <a:latin typeface="Arial"/>
      </a:defRPr>
    </a:lvl5pPr>
    <a:lvl6pPr>
      <a:defRPr lang="es-ES" sz="1800"/>
    </a:lvl6pPr>
    <a:lvl7pPr>
      <a:defRPr lang="es-ES" sz="1800"/>
    </a:lvl7pPr>
    <a:lvl8pPr>
      <a:defRPr lang="es-ES" sz="1800"/>
    </a:lvl8pPr>
    <a:lvl9pPr>
      <a:defRPr lang="es-ES" sz="1800"/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04" d="100"/>
          <a:sy n="104" d="100"/>
        </p:scale>
        <p:origin x="-1236" y="-90"/>
      </p:cViewPr>
      <p:guideLst>
        <p:guide pos="2160" orient="horz"/>
        <p:guide pos="288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 /><Relationship Id="rId23" Type="http://schemas.openxmlformats.org/officeDocument/2006/relationships/tableStyles" Target="tableStyles.xml" /><Relationship Id="rId2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7831712" name="Rectangle 2"/>
          <p:cNvSpPr>
            <a:spLocks noChangeShapeType="1" noGrp="1"/>
          </p:cNvSpPr>
          <p:nvPr>
            <p:ph type="hdr" idx="0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2017273851" name="Rectangle 3"/>
          <p:cNvSpPr>
            <a:spLocks noChangeShapeType="1" noGrp="1"/>
          </p:cNvSpPr>
          <p:nvPr>
            <p:ph type="dt" idx="1"/>
          </p:nvPr>
        </p:nvSpPr>
        <p:spPr bwMode="auto">
          <a:xfrm>
            <a:off x="3884612" y="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1174434498" name="Rectangle 4"/>
          <p:cNvSpPr>
            <a:spLocks noChangeShapeType="1" noGrp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735432754" name="Rectangle 5"/>
          <p:cNvSpPr>
            <a:spLocks noChangeShapeType="1" noGrp="1"/>
          </p:cNvSpPr>
          <p:nvPr>
            <p:ph type="body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Arial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Arial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Arial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Arial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/>
              <a:t>Haga clic para modificar el estilo de texto del patrón</a:t>
            </a:r>
            <a:endParaRPr/>
          </a:p>
          <a:p>
            <a:pPr marL="457200" lvl="1" indent="0">
              <a:spcBef>
                <a:spcPts val="0"/>
              </a:spcBef>
              <a:buNone/>
              <a:defRPr/>
            </a:pPr>
            <a:r>
              <a:rPr/>
              <a:t>Segundo nivel</a:t>
            </a:r>
            <a:endParaRPr/>
          </a:p>
          <a:p>
            <a:pPr marL="914400" lvl="2" indent="0">
              <a:spcBef>
                <a:spcPts val="0"/>
              </a:spcBef>
              <a:buNone/>
              <a:defRPr/>
            </a:pPr>
            <a:r>
              <a:rPr/>
              <a:t>Tercer nivel</a:t>
            </a:r>
            <a:endParaRPr/>
          </a:p>
          <a:p>
            <a:pPr marL="1371600" lvl="3" indent="0">
              <a:spcBef>
                <a:spcPts val="0"/>
              </a:spcBef>
              <a:buNone/>
              <a:defRPr/>
            </a:pPr>
            <a:r>
              <a:rPr/>
              <a:t>Cuarto nivel</a:t>
            </a:r>
            <a:endParaRPr/>
          </a:p>
          <a:p>
            <a:pPr marL="1828800" lvl="4" indent="0">
              <a:spcBef>
                <a:spcPts val="0"/>
              </a:spcBef>
              <a:buNone/>
              <a:defRPr/>
            </a:pPr>
            <a:r>
              <a:rPr/>
              <a:t>Quinto nivel</a:t>
            </a:r>
            <a:endParaRPr/>
          </a:p>
        </p:txBody>
      </p:sp>
      <p:sp>
        <p:nvSpPr>
          <p:cNvPr id="1053006145" name="Rectangle 6"/>
          <p:cNvSpPr>
            <a:spLocks noChangeShapeType="1" noGrp="1"/>
          </p:cNvSpPr>
          <p:nvPr>
            <p:ph type="ftr" idx="4"/>
          </p:nvPr>
        </p:nvSpPr>
        <p:spPr bwMode="auto">
          <a:xfrm>
            <a:off x="0" y="8685212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154876188" name="Rectangle 7"/>
          <p:cNvSpPr>
            <a:spLocks noChangeShapeType="1" noGrp="1"/>
          </p:cNvSpPr>
          <p:nvPr>
            <p:ph type="sldNum" idx="5"/>
          </p:nvPr>
        </p:nvSpPr>
        <p:spPr bwMode="auto">
          <a:xfrm>
            <a:off x="3884612" y="8685212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Arial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Arial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Arial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Arial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s-ES" sz="1200"/>
              <a:t>*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476B67-BB9A-63CF-D8C1-25010E0040E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E81437-D746-E3C7-C3F5-E399F24CB5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4431BB-77BF-24CE-E6EA-61E2190FACB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9BE8EF-BC4E-0166-8C84-B17EAEF28B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58FE52-11AF-AB4B-97C7-69768440A9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997302-AF46-ACF8-D704-D0BD5A8277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81F29F-7C99-4838-6FBE-DD71A82E9A3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D14D2B-3027-3493-CF48-61782AB883E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D98083-E102-1B7C-541E-17E99B68C2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774F39-7372-6EB2-FA5E-45841596D9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386B0F-0775-B62E-B28D-CCDA8931767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9AFBFC-C4FA-D9E0-7340-E05C5134BE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CE00A7-16F7-8D1B-D436-265CF9A6DF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919563-205D-AE82-35E6-BBA7CF9FDF7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1F741F-7338-2FE5-FE99-E5993D9F85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2FE047-02E0-EC1E-748A-C4ED8D5C0DB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B07948D-9DB2-1EC1-6FA4-356D2FD9A0A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and Objec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288781" name="Shape 1026"/>
          <p:cNvSpPr>
            <a:spLocks noChangeShapeType="1" noGrp="1"/>
          </p:cNvSpPr>
          <p:nvPr>
            <p:ph type="title" idx="0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lang="es-ES"/>
              <a:t>Haga clic para cambiar el estilo de título	</a:t>
            </a:r>
            <a:endParaRPr/>
          </a:p>
        </p:txBody>
      </p:sp>
      <p:sp>
        <p:nvSpPr>
          <p:cNvPr id="868750950" name="Shape 1027"/>
          <p:cNvSpPr>
            <a:spLocks noChangeShapeType="1" noGrp="1"/>
          </p:cNvSpPr>
          <p:nvPr>
            <p:ph idx="1"/>
          </p:nvPr>
        </p:nvSpPr>
        <p:spPr bwMode="auto">
          <a:xfrm>
            <a:off x="457200" y="1600200"/>
            <a:ext cx="8229600" cy="4525962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342900" lvl="0" indent="-342900">
              <a:spcBef>
                <a:spcPts val="0"/>
              </a:spcBef>
              <a:buChar char="•"/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marL="742950" lvl="1" indent="-285750">
              <a:spcBef>
                <a:spcPts val="0"/>
              </a:spcBef>
              <a:buChar char="–"/>
              <a:defRPr/>
            </a:pPr>
            <a:r>
              <a:rPr lang="es-ES"/>
              <a:t>Segundo nivel</a:t>
            </a:r>
            <a:endParaRPr/>
          </a:p>
          <a:p>
            <a:pPr marL="1143000" lvl="2" indent="-228600">
              <a:spcBef>
                <a:spcPts val="0"/>
              </a:spcBef>
              <a:buChar char="•"/>
              <a:defRPr/>
            </a:pPr>
            <a:r>
              <a:rPr lang="es-ES"/>
              <a:t>Tercer nivel</a:t>
            </a:r>
            <a:endParaRPr/>
          </a:p>
          <a:p>
            <a:pPr marL="1600200" lvl="3" indent="-228600">
              <a:spcBef>
                <a:spcPts val="0"/>
              </a:spcBef>
              <a:buChar char="–"/>
              <a:defRPr/>
            </a:pPr>
            <a:r>
              <a:rPr lang="es-ES"/>
              <a:t>Cuarto nivel</a:t>
            </a:r>
            <a:endParaRPr/>
          </a:p>
          <a:p>
            <a:pPr marL="2057400" lvl="4" indent="-228600">
              <a:spcBef>
                <a:spcPts val="0"/>
              </a:spcBef>
              <a:buChar char="»"/>
              <a:defRPr/>
            </a:pPr>
            <a:r>
              <a:rPr lang="es-ES"/>
              <a:t>Quinto nivel</a:t>
            </a:r>
            <a:endParaRPr/>
          </a:p>
        </p:txBody>
      </p:sp>
      <p:sp>
        <p:nvSpPr>
          <p:cNvPr id="607224963" name="Shape 1028"/>
          <p:cNvSpPr>
            <a:spLocks noChangeShapeType="1" noGrp="1"/>
          </p:cNvSpPr>
          <p:nvPr>
            <p:ph type="dt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817048631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Arial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Arial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Arial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Arial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sz="1400"/>
              <a:t>Administracion de Recursos </a:t>
            </a:r>
            <a:endParaRPr/>
          </a:p>
        </p:txBody>
      </p:sp>
      <p:sp>
        <p:nvSpPr>
          <p:cNvPr id="1175235220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Arial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Arial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Arial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Arial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s-ES" sz="1400"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663396" name="Rectangle 2"/>
          <p:cNvSpPr>
            <a:spLocks noChangeShapeType="1" noGrp="1"/>
          </p:cNvSpPr>
          <p:nvPr>
            <p:ph type="title" idx="0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lang="es-ES"/>
              <a:t>Haga clic para cambiar el estilo de título	</a:t>
            </a:r>
            <a:endParaRPr/>
          </a:p>
        </p:txBody>
      </p:sp>
      <p:sp>
        <p:nvSpPr>
          <p:cNvPr id="2081930488" name="Rectangle 3"/>
          <p:cNvSpPr>
            <a:spLocks noChangeShapeType="1" noGrp="1"/>
          </p:cNvSpPr>
          <p:nvPr>
            <p:ph type="body" idx="1"/>
          </p:nvPr>
        </p:nvSpPr>
        <p:spPr bwMode="auto">
          <a:xfrm>
            <a:off x="457200" y="1600200"/>
            <a:ext cx="8229600" cy="4525962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342900" lvl="0" indent="-342900">
              <a:spcBef>
                <a:spcPts val="0"/>
              </a:spcBef>
              <a:buChar char="•"/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marL="742950" lvl="1" indent="-285750">
              <a:spcBef>
                <a:spcPts val="0"/>
              </a:spcBef>
              <a:buChar char="–"/>
              <a:defRPr/>
            </a:pPr>
            <a:r>
              <a:rPr lang="es-ES"/>
              <a:t>Segundo nivel</a:t>
            </a:r>
            <a:endParaRPr/>
          </a:p>
          <a:p>
            <a:pPr marL="1143000" lvl="2" indent="-228600">
              <a:spcBef>
                <a:spcPts val="0"/>
              </a:spcBef>
              <a:buChar char="•"/>
              <a:defRPr/>
            </a:pPr>
            <a:r>
              <a:rPr lang="es-ES"/>
              <a:t>Tercer nivel</a:t>
            </a:r>
            <a:endParaRPr/>
          </a:p>
          <a:p>
            <a:pPr marL="1600200" lvl="3" indent="-228600">
              <a:spcBef>
                <a:spcPts val="0"/>
              </a:spcBef>
              <a:buChar char="–"/>
              <a:defRPr/>
            </a:pPr>
            <a:r>
              <a:rPr lang="es-ES"/>
              <a:t>Cuarto nivel</a:t>
            </a:r>
            <a:endParaRPr/>
          </a:p>
          <a:p>
            <a:pPr marL="2057400" lvl="4" indent="-228600">
              <a:spcBef>
                <a:spcPts val="0"/>
              </a:spcBef>
              <a:buChar char="»"/>
              <a:defRPr/>
            </a:pPr>
            <a:r>
              <a:rPr lang="es-ES"/>
              <a:t>Quinto nivel</a:t>
            </a:r>
            <a:endParaRPr/>
          </a:p>
        </p:txBody>
      </p:sp>
      <p:sp>
        <p:nvSpPr>
          <p:cNvPr id="1579212249" name="Rectangle 4"/>
          <p:cNvSpPr>
            <a:spLocks noChangeShapeType="1" noGrp="1"/>
          </p:cNvSpPr>
          <p:nvPr>
            <p:ph type="dt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918862638" name="Rectangle 5"/>
          <p:cNvSpPr>
            <a:spLocks noChangeShapeType="1" noGrp="1"/>
          </p:cNvSpPr>
          <p:nvPr>
            <p:ph type="ft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Arial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Arial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Arial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Arial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sz="1400"/>
              <a:t>Administracion de Recursos </a:t>
            </a:r>
            <a:endParaRPr/>
          </a:p>
        </p:txBody>
      </p:sp>
      <p:sp>
        <p:nvSpPr>
          <p:cNvPr id="78175215" name="Rectangle 6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Arial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Arial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Arial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Arial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s-ES" sz="1400"/>
              <a:t>*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s-ES" sz="4400" b="0" i="0">
          <a:solidFill>
            <a:schemeClr val="dk2"/>
          </a:solidFill>
          <a:latin typeface="Arial"/>
        </a:defRPr>
      </a:lvl1pPr>
      <a:lvl2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s-ES" sz="4400" b="0" i="0">
          <a:solidFill>
            <a:schemeClr val="dk2"/>
          </a:solidFill>
          <a:latin typeface="Arial"/>
        </a:defRPr>
      </a:lvl2pPr>
      <a:lvl3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s-ES" sz="4400" b="0" i="0">
          <a:solidFill>
            <a:schemeClr val="dk2"/>
          </a:solidFill>
          <a:latin typeface="Arial"/>
        </a:defRPr>
      </a:lvl3pPr>
      <a:lvl4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s-ES" sz="4400" b="0" i="0">
          <a:solidFill>
            <a:schemeClr val="dk2"/>
          </a:solidFill>
          <a:latin typeface="Arial"/>
        </a:defRPr>
      </a:lvl4pPr>
      <a:lvl5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s-ES" sz="4400" b="0" i="0">
          <a:solidFill>
            <a:schemeClr val="dk2"/>
          </a:solidFill>
          <a:latin typeface="Arial"/>
        </a:defRPr>
      </a:lvl5pPr>
      <a:lvl6pPr>
        <a:defRPr lang="es-ES" sz="1800"/>
      </a:lvl6pPr>
      <a:lvl7pPr>
        <a:defRPr lang="es-ES" sz="1800"/>
      </a:lvl7pPr>
      <a:lvl8pPr>
        <a:defRPr lang="es-ES" sz="1800"/>
      </a:lvl8pPr>
      <a:lvl9pPr>
        <a:defRPr lang="es-ES" sz="1800"/>
      </a:lvl9pPr>
    </p:titleStyle>
    <p:bodyStyle>
      <a:lvl1pPr marL="342900" indent="0" algn="l" defTabSz="914400" rtl="0">
        <a:lnSpc>
          <a:spcPct val="100000"/>
        </a:lnSpc>
        <a:spcBef>
          <a:spcPts val="0"/>
        </a:spcBef>
        <a:spcAft>
          <a:spcPts val="0"/>
        </a:spcAft>
        <a:buChar char="•"/>
        <a:defRPr lang="es-ES" sz="3200" b="0" i="0">
          <a:solidFill>
            <a:schemeClr val="dk1"/>
          </a:solidFill>
          <a:latin typeface="Arial"/>
        </a:defRPr>
      </a:lvl1pPr>
      <a:lvl2pPr marL="742950" indent="457200" algn="l" defTabSz="914400" rtl="0">
        <a:lnSpc>
          <a:spcPct val="100000"/>
        </a:lnSpc>
        <a:spcBef>
          <a:spcPts val="0"/>
        </a:spcBef>
        <a:spcAft>
          <a:spcPts val="0"/>
        </a:spcAft>
        <a:buChar char="–"/>
        <a:defRPr lang="es-ES" sz="2800" b="0" i="0">
          <a:solidFill>
            <a:schemeClr val="dk1"/>
          </a:solidFill>
          <a:latin typeface="Arial"/>
        </a:defRPr>
      </a:lvl2pPr>
      <a:lvl3pPr marL="1143000" indent="914400" algn="l" defTabSz="914400" rtl="0">
        <a:lnSpc>
          <a:spcPct val="100000"/>
        </a:lnSpc>
        <a:spcBef>
          <a:spcPts val="0"/>
        </a:spcBef>
        <a:spcAft>
          <a:spcPts val="0"/>
        </a:spcAft>
        <a:buChar char="•"/>
        <a:defRPr lang="es-ES" sz="2400" b="0" i="0">
          <a:solidFill>
            <a:schemeClr val="dk1"/>
          </a:solidFill>
          <a:latin typeface="Arial"/>
        </a:defRPr>
      </a:lvl3pPr>
      <a:lvl4pPr marL="1600200" indent="1371600" algn="l" defTabSz="914400" rtl="0">
        <a:lnSpc>
          <a:spcPct val="100000"/>
        </a:lnSpc>
        <a:spcBef>
          <a:spcPts val="0"/>
        </a:spcBef>
        <a:spcAft>
          <a:spcPts val="0"/>
        </a:spcAft>
        <a:buChar char="–"/>
        <a:defRPr lang="es-ES" sz="2000" b="0" i="0">
          <a:solidFill>
            <a:schemeClr val="dk1"/>
          </a:solidFill>
          <a:latin typeface="Arial"/>
        </a:defRPr>
      </a:lvl4pPr>
      <a:lvl5pPr marL="2057400" indent="1828800" algn="l" defTabSz="914400" rtl="0">
        <a:lnSpc>
          <a:spcPct val="100000"/>
        </a:lnSpc>
        <a:spcBef>
          <a:spcPts val="0"/>
        </a:spcBef>
        <a:spcAft>
          <a:spcPts val="0"/>
        </a:spcAft>
        <a:buChar char="»"/>
        <a:defRPr lang="es-ES" sz="2000" b="0" i="0">
          <a:solidFill>
            <a:schemeClr val="dk1"/>
          </a:solidFill>
          <a:latin typeface="Arial"/>
        </a:defRPr>
      </a:lvl5pPr>
      <a:lvl6pPr>
        <a:defRPr lang="es-ES" sz="1800"/>
      </a:lvl6pPr>
      <a:lvl7pPr>
        <a:defRPr lang="es-ES" sz="1800"/>
      </a:lvl7pPr>
      <a:lvl8pPr>
        <a:defRPr lang="es-ES" sz="1800"/>
      </a:lvl8pPr>
      <a:lvl9pPr>
        <a:defRPr lang="es-ES" sz="1800"/>
      </a:lvl9pPr>
    </p:bodyStyle>
    <p:otherStyle>
      <a:lvl1pPr marL="0" indent="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s-ES" sz="1800" b="0" i="0">
          <a:solidFill>
            <a:schemeClr val="dk1"/>
          </a:solidFill>
          <a:latin typeface="Arial"/>
        </a:defRPr>
      </a:lvl1pPr>
      <a:lvl2pPr marL="457200" indent="4572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s-ES" sz="1800" b="0" i="0">
          <a:solidFill>
            <a:schemeClr val="dk1"/>
          </a:solidFill>
          <a:latin typeface="Arial"/>
        </a:defRPr>
      </a:lvl2pPr>
      <a:lvl3pPr marL="914400" indent="9144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s-ES" sz="1800" b="0" i="0">
          <a:solidFill>
            <a:schemeClr val="dk1"/>
          </a:solidFill>
          <a:latin typeface="Arial"/>
        </a:defRPr>
      </a:lvl3pPr>
      <a:lvl4pPr marL="1371600" indent="13716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s-ES" sz="1800" b="0" i="0">
          <a:solidFill>
            <a:schemeClr val="dk1"/>
          </a:solidFill>
          <a:latin typeface="Arial"/>
        </a:defRPr>
      </a:lvl4pPr>
      <a:lvl5pPr marL="1828800" indent="18288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s-ES" sz="1800" b="0" i="0">
          <a:solidFill>
            <a:schemeClr val="dk1"/>
          </a:solidFill>
          <a:latin typeface="Arial"/>
        </a:defRPr>
      </a:lvl5pPr>
      <a:lvl6pPr>
        <a:defRPr lang="es-ES" sz="1800"/>
      </a:lvl6pPr>
      <a:lvl7pPr>
        <a:defRPr lang="es-ES" sz="1800"/>
      </a:lvl7pPr>
      <a:lvl8pPr>
        <a:defRPr lang="es-ES" sz="1800"/>
      </a:lvl8pPr>
      <a:lvl9pPr>
        <a:defRPr lang="es-ES" sz="1800"/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8420500" name="5 Marcador de número de diapositiva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s-ES" sz="1400"/>
              <a:t>*</a:t>
            </a:fld>
            <a:endParaRPr/>
          </a:p>
        </p:txBody>
      </p:sp>
      <p:sp>
        <p:nvSpPr>
          <p:cNvPr id="143174130" name="Rectangle 2"/>
          <p:cNvSpPr>
            <a:spLocks noChangeShapeType="1" noGrp="1"/>
          </p:cNvSpPr>
          <p:nvPr>
            <p:ph type="ctrTitle"/>
          </p:nvPr>
        </p:nvSpPr>
        <p:spPr bwMode="auto">
          <a:xfrm>
            <a:off x="684212" y="620712"/>
            <a:ext cx="7772400" cy="1470025"/>
          </a:xfrm>
          <a:prstGeom prst="rect">
            <a:avLst/>
          </a:prstGeom>
        </p:spPr>
        <p:txBody>
          <a:bodyPr lIns="91440" tIns="45720" rIns="91440" bIns="45720" anchor="ctr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s-ES"/>
              <a:t>Administración de Sistemas de Información</a:t>
            </a:r>
            <a:endParaRPr/>
          </a:p>
        </p:txBody>
      </p:sp>
      <p:sp>
        <p:nvSpPr>
          <p:cNvPr id="1393008311" name="Rectangle 3"/>
          <p:cNvSpPr>
            <a:spLocks noChangeShapeType="1" noGrp="1"/>
          </p:cNvSpPr>
          <p:nvPr>
            <p:ph type="subTitle"/>
          </p:nvPr>
        </p:nvSpPr>
        <p:spPr bwMode="auto">
          <a:xfrm>
            <a:off x="1258887" y="2708275"/>
            <a:ext cx="6400800" cy="259238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algn="ctr">
              <a:buNone/>
              <a:defRPr/>
            </a:lvl1pPr>
            <a:lvl2pPr marL="457200" algn="ctr">
              <a:buNone/>
              <a:defRPr/>
            </a:lvl2pPr>
            <a:lvl3pPr marL="914400" algn="ctr">
              <a:buNone/>
              <a:defRPr/>
            </a:lvl3pPr>
            <a:lvl4pPr marL="1371600" algn="ctr">
              <a:buNone/>
              <a:defRPr/>
            </a:lvl4pPr>
            <a:lvl5pPr marL="1828800" algn="ctr">
              <a:buNone/>
              <a:defRPr/>
            </a:lvl5pPr>
          </a:lstStyle>
          <a:p>
            <a:pPr marL="0" lvl="0" indent="0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es-ES" sz="2800"/>
              <a:t>Bienvenida</a:t>
            </a:r>
            <a:endParaRPr/>
          </a:p>
          <a:p>
            <a:pPr marL="0" lvl="0" indent="0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es-ES" sz="2000" b="0" i="0" u="sng"/>
              <a:t>Profesores de la cátedra</a:t>
            </a:r>
            <a:r>
              <a:rPr lang="es-ES" sz="2000"/>
              <a:t>: </a:t>
            </a:r>
            <a:endParaRPr/>
          </a:p>
          <a:p>
            <a:pPr marL="0" lvl="0" indent="0">
              <a:lnSpc>
                <a:spcPct val="90000"/>
              </a:lnSpc>
              <a:spcBef>
                <a:spcPts val="0"/>
              </a:spcBef>
              <a:buNone/>
              <a:defRPr/>
            </a:pPr>
            <a:endParaRPr lang="en-US" sz="2000"/>
          </a:p>
          <a:p>
            <a:pPr marL="0" lvl="0" indent="0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es-ES" sz="2000"/>
              <a:t>JTP interino: Ing. Mario Centeno</a:t>
            </a:r>
            <a:endParaRPr/>
          </a:p>
          <a:p>
            <a:pPr marL="0" lvl="0" indent="0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es-ES" sz="2000"/>
              <a:t>Titular: Ing. Julio Cuenca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7940808" name="4 Marcador de pie de página"/>
          <p:cNvSpPr txBox="1">
            <a:spLocks noChangeShapeType="1" noGrp="1"/>
          </p:cNvSpPr>
          <p:nvPr/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s-ES" sz="1400"/>
              <a:t>Administración de SI </a:t>
            </a:r>
            <a:endParaRPr/>
          </a:p>
        </p:txBody>
      </p:sp>
      <p:sp>
        <p:nvSpPr>
          <p:cNvPr id="367314723" name="5 Marcador de número de diapositiva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s-ES" sz="1400"/>
              <a:t>*</a:t>
            </a:fld>
            <a:endParaRPr/>
          </a:p>
        </p:txBody>
      </p:sp>
      <p:sp>
        <p:nvSpPr>
          <p:cNvPr id="51327778" name="Rectangle 3"/>
          <p:cNvSpPr>
            <a:spLocks noChangeShapeType="1" noGrp="1"/>
          </p:cNvSpPr>
          <p:nvPr/>
        </p:nvSpPr>
        <p:spPr bwMode="auto">
          <a:xfrm>
            <a:off x="2051050" y="360362"/>
            <a:ext cx="5184775" cy="457200"/>
          </a:xfrm>
          <a:prstGeom prst="rect">
            <a:avLst/>
          </a:prstGeom>
          <a:noFill/>
        </p:spPr>
        <p:txBody>
          <a:bodyPr lIns="91440" tIns="45720" rIns="91440" bIns="45720" anchor="ctr" anchorCtr="0">
            <a:spAutoFit/>
          </a:bodyPr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s-ES" sz="2400" b="1" i="0" u="sng">
                <a:solidFill>
                  <a:schemeClr val="accent2"/>
                </a:solidFill>
              </a:rPr>
              <a:t>ADMINISTRACIÓN DE SI</a:t>
            </a:r>
            <a:endParaRPr/>
          </a:p>
        </p:txBody>
      </p:sp>
      <p:sp>
        <p:nvSpPr>
          <p:cNvPr id="1692193918" name="Line 4"/>
          <p:cNvSpPr>
            <a:spLocks noChangeShapeType="1" noGrp="1"/>
          </p:cNvSpPr>
          <p:nvPr/>
        </p:nvSpPr>
        <p:spPr bwMode="auto">
          <a:xfrm>
            <a:off x="395287" y="1125537"/>
            <a:ext cx="8353425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1734414503" name="Rectangle 11"/>
          <p:cNvSpPr>
            <a:spLocks noChangeShapeType="1" noGrp="1"/>
          </p:cNvSpPr>
          <p:nvPr>
            <p:ph type="obj"/>
          </p:nvPr>
        </p:nvSpPr>
        <p:spPr bwMode="auto">
          <a:xfrm>
            <a:off x="792162" y="1577975"/>
            <a:ext cx="7559675" cy="4154487"/>
          </a:xfrm>
          <a:prstGeom prst="rect">
            <a:avLst/>
          </a:prstGeom>
          <a:noFill/>
        </p:spPr>
        <p:txBody>
          <a:bodyPr lIns="91440" tIns="45720" rIns="91440" bIns="45720" anchor="ctr" anchorCtr="0">
            <a:spAutoFit/>
          </a:bodyPr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just">
              <a:spcBef>
                <a:spcPts val="0"/>
              </a:spcBef>
              <a:buNone/>
              <a:defRPr/>
            </a:pPr>
            <a:r>
              <a:rPr lang="es-AR" sz="2400" b="1" i="0" u="sng">
                <a:latin typeface="Calibri"/>
                <a:ea typeface="Arial"/>
              </a:rPr>
              <a:t>Objetivos  generales </a:t>
            </a:r>
            <a:r>
              <a:rPr lang="es-AR" sz="2000">
                <a:latin typeface="Calibri"/>
                <a:ea typeface="Arial"/>
              </a:rPr>
              <a:t>(Según </a:t>
            </a:r>
            <a:r>
              <a:rPr lang="es-AR" sz="2000" b="0" i="0" u="none">
                <a:ea typeface="Calibri"/>
              </a:rPr>
              <a:t>Ord. 1877 Plan 2023</a:t>
            </a:r>
            <a:r>
              <a:rPr lang="es-AR" sz="2000" b="0" i="0" u="none">
                <a:latin typeface="Calibri"/>
                <a:ea typeface="Arial"/>
              </a:rPr>
              <a:t>)</a:t>
            </a:r>
            <a:endParaRPr lang="en-US" sz="2000"/>
          </a:p>
          <a:p>
            <a:pPr marL="0" lvl="0" indent="0" algn="just">
              <a:spcBef>
                <a:spcPts val="0"/>
              </a:spcBef>
              <a:buNone/>
              <a:defRPr/>
            </a:pPr>
            <a:r>
              <a:rPr lang="es-AR" sz="2000" b="0" i="0" u="none">
                <a:latin typeface="Calibri"/>
                <a:ea typeface="Calibri"/>
              </a:rPr>
              <a:t>- Aplicar técnicas y metodologías en la elaboración del plan estratégico en la selección y  dirección de talento y capital </a:t>
            </a:r>
            <a:r>
              <a:rPr lang="es-AR" sz="2000" b="0" i="0" u="none">
                <a:latin typeface="Calibri"/>
                <a:ea typeface="Arial"/>
              </a:rPr>
              <a:t>humano</a:t>
            </a:r>
            <a:r>
              <a:rPr lang="es-AR" sz="2000" b="0" i="0" u="none">
                <a:latin typeface="Calibri"/>
                <a:ea typeface="Calibri"/>
              </a:rPr>
              <a:t>, procesos y sistemas software, sistemas de computación y comunicación en áreas y proyectos de sistemas de Información, considerando los riesgos y optimizando los recursos tecnológicos. </a:t>
            </a:r>
            <a:endParaRPr lang="en-US" sz="2000"/>
          </a:p>
          <a:p>
            <a:pPr marL="0" lvl="0" indent="0" algn="just">
              <a:spcBef>
                <a:spcPts val="0"/>
              </a:spcBef>
              <a:buNone/>
              <a:defRPr/>
            </a:pPr>
            <a:r>
              <a:rPr lang="es-AR" sz="2000" b="0" i="0" u="none">
                <a:latin typeface="Calibri"/>
                <a:ea typeface="Calibri"/>
              </a:rPr>
              <a:t>- Identificar los fundamentos de las relaciones laborales y la higiene y seguridad en el trabajo. </a:t>
            </a:r>
            <a:endParaRPr lang="en-US" sz="2000"/>
          </a:p>
          <a:p>
            <a:pPr marL="0" lvl="0" indent="0" algn="just">
              <a:spcBef>
                <a:spcPts val="0"/>
              </a:spcBef>
              <a:buNone/>
              <a:defRPr/>
            </a:pPr>
            <a:r>
              <a:rPr lang="es-AR" sz="2000" b="0" i="0" u="none">
                <a:latin typeface="Calibri"/>
                <a:ea typeface="Calibri"/>
              </a:rPr>
              <a:t>- Realizar el análisis de viabilidad y factibilidad de proyectos informáticos, empleando técnicas  y herramientas relacionadas para su evaluación. </a:t>
            </a:r>
            <a:endParaRPr lang="en-US" sz="2000"/>
          </a:p>
          <a:p>
            <a:pPr marL="0" lvl="0" indent="0" algn="just">
              <a:spcBef>
                <a:spcPts val="0"/>
              </a:spcBef>
              <a:buNone/>
              <a:defRPr/>
            </a:pPr>
            <a:r>
              <a:rPr lang="es-AR" sz="2000" b="0" i="0" u="none">
                <a:latin typeface="Calibri"/>
                <a:ea typeface="Calibri"/>
              </a:rPr>
              <a:t>- Incorporar estrategias y herramientas de identificación de emprendimientos con base tecnológica.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1907686" name="4 Marcador de pie de página"/>
          <p:cNvSpPr txBox="1">
            <a:spLocks noChangeShapeType="1" noGrp="1"/>
          </p:cNvSpPr>
          <p:nvPr/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s-ES" sz="1400"/>
              <a:t>Administración de SI </a:t>
            </a:r>
            <a:endParaRPr/>
          </a:p>
        </p:txBody>
      </p:sp>
      <p:sp>
        <p:nvSpPr>
          <p:cNvPr id="1891915511" name="5 Marcador de número de diapositiva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s-ES" sz="1400"/>
              <a:t>*</a:t>
            </a:fld>
            <a:endParaRPr/>
          </a:p>
        </p:txBody>
      </p:sp>
      <p:sp>
        <p:nvSpPr>
          <p:cNvPr id="1798864523" name="Rectangle 3"/>
          <p:cNvSpPr>
            <a:spLocks noChangeShapeType="1" noGrp="1"/>
          </p:cNvSpPr>
          <p:nvPr>
            <p:ph type="body"/>
          </p:nvPr>
        </p:nvSpPr>
        <p:spPr bwMode="auto">
          <a:xfrm>
            <a:off x="457200" y="1268412"/>
            <a:ext cx="8229600" cy="49768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342900" lvl="0" indent="-34290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s-AR" sz="2000" b="1" i="0" u="sng"/>
              <a:t>Objetivos buscados por la Cátedra</a:t>
            </a:r>
            <a:r>
              <a:rPr lang="es-AR" sz="2000" b="1" i="0" u="none"/>
              <a:t>: Que el alumno:</a:t>
            </a:r>
            <a:endParaRPr/>
          </a:p>
          <a:p>
            <a:pPr marL="342900" lvl="0" indent="-342900">
              <a:lnSpc>
                <a:spcPct val="80000"/>
              </a:lnSpc>
              <a:spcBef>
                <a:spcPts val="0"/>
              </a:spcBef>
              <a:buChar char="•"/>
              <a:defRPr/>
            </a:pPr>
            <a:r>
              <a:rPr lang="es-AR" sz="2000"/>
              <a:t>La </a:t>
            </a:r>
            <a:r>
              <a:rPr lang="es-AR" sz="2000" b="0" i="0" u="sng"/>
              <a:t>adquisición de conocimientos </a:t>
            </a:r>
            <a:r>
              <a:rPr lang="es-AR" sz="2000"/>
              <a:t>para el manejo de herramientas de gestión y administración en áreas de TICs.</a:t>
            </a:r>
            <a:endParaRPr/>
          </a:p>
          <a:p>
            <a:pPr marL="342900" lvl="0" indent="-342900">
              <a:lnSpc>
                <a:spcPct val="80000"/>
              </a:lnSpc>
              <a:spcBef>
                <a:spcPts val="0"/>
              </a:spcBef>
              <a:buChar char="•"/>
              <a:defRPr/>
            </a:pPr>
            <a:r>
              <a:rPr lang="es-AR" sz="2000"/>
              <a:t>Lograr </a:t>
            </a:r>
            <a:r>
              <a:rPr lang="es-AR" sz="2000" b="0" i="0" u="sng"/>
              <a:t>conceptualizar los distintos procesos de cambio </a:t>
            </a:r>
            <a:r>
              <a:rPr lang="es-AR" sz="2000"/>
              <a:t>que se ven afectados por la Administración de los Recursos en un Área de TICs.</a:t>
            </a:r>
            <a:endParaRPr/>
          </a:p>
          <a:p>
            <a:pPr marL="342900" lvl="0" indent="-342900">
              <a:lnSpc>
                <a:spcPct val="80000"/>
              </a:lnSpc>
              <a:spcBef>
                <a:spcPts val="0"/>
              </a:spcBef>
              <a:buChar char="•"/>
              <a:defRPr/>
            </a:pPr>
            <a:r>
              <a:rPr lang="es-AR" sz="2000"/>
              <a:t>Comprender la </a:t>
            </a:r>
            <a:r>
              <a:rPr lang="es-AR" sz="2000" b="0" i="0" u="sng"/>
              <a:t>importancia del comportamiento humano </a:t>
            </a:r>
            <a:r>
              <a:rPr lang="es-AR" sz="2000"/>
              <a:t>como activo de una empresa para el cumplimiento de objetivos. </a:t>
            </a:r>
            <a:endParaRPr/>
          </a:p>
          <a:p>
            <a:pPr marL="342900" lvl="0" indent="-342900">
              <a:lnSpc>
                <a:spcPct val="80000"/>
              </a:lnSpc>
              <a:spcBef>
                <a:spcPts val="0"/>
              </a:spcBef>
              <a:buChar char="•"/>
              <a:defRPr/>
            </a:pPr>
            <a:r>
              <a:rPr lang="es-AR" sz="2000"/>
              <a:t>Adquirir las </a:t>
            </a:r>
            <a:r>
              <a:rPr lang="es-AR" sz="2000" b="0" i="0" u="sng"/>
              <a:t>herramientas</a:t>
            </a:r>
            <a:r>
              <a:rPr lang="es-AR" sz="2000"/>
              <a:t> necesarias, que le permitan el desarrollo de competencias y habilidades para completar su formación profesional.</a:t>
            </a:r>
            <a:endParaRPr/>
          </a:p>
          <a:p>
            <a:pPr marL="342900" lvl="0" indent="-342900">
              <a:lnSpc>
                <a:spcPct val="80000"/>
              </a:lnSpc>
              <a:spcBef>
                <a:spcPts val="0"/>
              </a:spcBef>
              <a:buChar char="•"/>
              <a:defRPr/>
            </a:pPr>
            <a:r>
              <a:rPr lang="es-AR" sz="2000"/>
              <a:t>Desarrollar su </a:t>
            </a:r>
            <a:r>
              <a:rPr lang="es-AR" sz="2000" b="0" i="0" u="sng"/>
              <a:t>espíritu emprendedor, su capacidad creativa,  su capacidad de trabajo en equipo, su capacidad de interactuar en equipos multidisciplinarios</a:t>
            </a:r>
            <a:r>
              <a:rPr lang="es-AR" sz="2000"/>
              <a:t> brindando a los mismos sus conocimientos técnicos y organizacionales. </a:t>
            </a:r>
            <a:endParaRPr/>
          </a:p>
          <a:p>
            <a:pPr marL="342900" lvl="0" indent="-342900">
              <a:lnSpc>
                <a:spcPct val="80000"/>
              </a:lnSpc>
              <a:spcBef>
                <a:spcPts val="0"/>
              </a:spcBef>
              <a:buChar char="•"/>
              <a:defRPr/>
            </a:pPr>
            <a:r>
              <a:rPr lang="es-AR" sz="2000"/>
              <a:t>Desarrollar su </a:t>
            </a:r>
            <a:r>
              <a:rPr lang="es-AR" sz="2000" b="0" i="0" u="sng"/>
              <a:t>criterio</a:t>
            </a:r>
            <a:r>
              <a:rPr lang="es-AR" sz="2000"/>
              <a:t> personal, aplicando técnicas par</a:t>
            </a:r>
            <a:r>
              <a:rPr lang="es-AR" sz="2000" b="0" i="0" u="none"/>
              <a:t>a</a:t>
            </a:r>
            <a:r>
              <a:rPr lang="es-AR" sz="2000" b="0" i="0" u="none"/>
              <a:t> la resolución de conflictos. </a:t>
            </a:r>
            <a:endParaRPr/>
          </a:p>
          <a:p>
            <a:pPr marL="342900" lvl="0" indent="-342900">
              <a:lnSpc>
                <a:spcPct val="80000"/>
              </a:lnSpc>
              <a:spcBef>
                <a:spcPts val="0"/>
              </a:spcBef>
              <a:buChar char="•"/>
              <a:defRPr/>
            </a:pPr>
            <a:r>
              <a:rPr lang="es-AR" sz="2000" b="0" i="0" u="none"/>
              <a:t>Que estas competencias adquiridas les </a:t>
            </a:r>
            <a:r>
              <a:rPr lang="es-AR" sz="2000" b="0" i="0" u="sng"/>
              <a:t>faciliten su inserción en el medio laboral.</a:t>
            </a:r>
            <a:r>
              <a:rPr lang="es-AR" sz="2000" b="0" i="0" u="none"/>
              <a:t> </a:t>
            </a:r>
            <a:endParaRPr/>
          </a:p>
        </p:txBody>
      </p:sp>
      <p:sp>
        <p:nvSpPr>
          <p:cNvPr id="2069366391" name="Rectangle 4"/>
          <p:cNvSpPr>
            <a:spLocks noChangeShapeType="1" noGrp="1"/>
          </p:cNvSpPr>
          <p:nvPr/>
        </p:nvSpPr>
        <p:spPr bwMode="auto">
          <a:xfrm>
            <a:off x="2051050" y="360362"/>
            <a:ext cx="5184775" cy="457200"/>
          </a:xfrm>
          <a:prstGeom prst="rect">
            <a:avLst/>
          </a:prstGeom>
          <a:noFill/>
        </p:spPr>
        <p:txBody>
          <a:bodyPr lIns="91440" tIns="45720" rIns="91440" bIns="45720" anchor="ctr" anchorCtr="0">
            <a:spAutoFit/>
          </a:bodyPr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s-ES" sz="2400" b="1" i="0" u="sng">
                <a:solidFill>
                  <a:schemeClr val="accent2"/>
                </a:solidFill>
              </a:rPr>
              <a:t>ADMINISTRACIÓN DE RECURSOS</a:t>
            </a:r>
            <a:endParaRPr/>
          </a:p>
        </p:txBody>
      </p:sp>
      <p:sp>
        <p:nvSpPr>
          <p:cNvPr id="1905957841" name="Line 5"/>
          <p:cNvSpPr>
            <a:spLocks noChangeShapeType="1" noGrp="1"/>
          </p:cNvSpPr>
          <p:nvPr/>
        </p:nvSpPr>
        <p:spPr bwMode="auto">
          <a:xfrm>
            <a:off x="395287" y="1125537"/>
            <a:ext cx="8353425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8499932" name="4 Marcador de pie de página"/>
          <p:cNvSpPr txBox="1">
            <a:spLocks noChangeShapeType="1" noGrp="1"/>
          </p:cNvSpPr>
          <p:nvPr/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s-ES" sz="1400"/>
              <a:t>Administración de SI </a:t>
            </a:r>
            <a:endParaRPr/>
          </a:p>
        </p:txBody>
      </p:sp>
      <p:sp>
        <p:nvSpPr>
          <p:cNvPr id="708064148" name="5 Marcador de número de diapositiva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s-ES" sz="1400"/>
              <a:t>*</a:t>
            </a:fld>
            <a:endParaRPr/>
          </a:p>
        </p:txBody>
      </p:sp>
      <p:sp>
        <p:nvSpPr>
          <p:cNvPr id="1647868411" name="Rectangle 2"/>
          <p:cNvSpPr>
            <a:spLocks noChangeShapeType="1" noGrp="1"/>
          </p:cNvSpPr>
          <p:nvPr>
            <p:ph type="body"/>
          </p:nvPr>
        </p:nvSpPr>
        <p:spPr bwMode="auto">
          <a:xfrm>
            <a:off x="457200" y="1557337"/>
            <a:ext cx="8229600" cy="43799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just">
              <a:lnSpc>
                <a:spcPct val="149000"/>
              </a:lnSpc>
              <a:spcBef>
                <a:spcPts val="0"/>
              </a:spcBef>
              <a:buNone/>
              <a:defRPr/>
            </a:pPr>
            <a:r>
              <a:rPr lang="es-AR" sz="1800">
                <a:ea typeface="Calibri"/>
              </a:rPr>
              <a:t>La asignatura permite lograr los siguientes resultados en el aprendizaje</a:t>
            </a:r>
            <a:endParaRPr lang="en-US" sz="1800"/>
          </a:p>
          <a:p>
            <a:pPr marL="0" lvl="0" indent="0" algn="just">
              <a:spcBef>
                <a:spcPts val="625"/>
              </a:spcBef>
              <a:buFont typeface="Times New Roman"/>
              <a:buChar char="●"/>
              <a:defRPr/>
            </a:pPr>
            <a:r>
              <a:rPr lang="es-AR" sz="1800" b="0" i="0" u="none">
                <a:ea typeface="Arial"/>
              </a:rPr>
              <a:t>RA1: Diseñar la Gestión de los RRHH de un área de TI a través de una correcta estructura organizacional, la documentación asociada y las habilidades de liderazgo que permitan el correcto cumplimiento de las funciones del sector      </a:t>
            </a:r>
            <a:endParaRPr lang="en-US" sz="1800"/>
          </a:p>
          <a:p>
            <a:pPr marL="0" lvl="0" indent="0" algn="just">
              <a:spcBef>
                <a:spcPts val="625"/>
              </a:spcBef>
              <a:buFont typeface="Times New Roman"/>
              <a:buChar char="●"/>
              <a:defRPr/>
            </a:pPr>
            <a:r>
              <a:rPr lang="es-AR" sz="1800" b="0" i="0" u="none">
                <a:ea typeface="Arial"/>
              </a:rPr>
              <a:t>RA2: Evalúar Sistemas de Higiene y Seguridad Laboral de acuerdo a la aplicación de la Legislación Vigente para identificar desviaciones de la norma.</a:t>
            </a:r>
            <a:endParaRPr lang="en-US" sz="1800"/>
          </a:p>
          <a:p>
            <a:pPr marL="0" lvl="0" indent="0" algn="just">
              <a:spcBef>
                <a:spcPts val="625"/>
              </a:spcBef>
              <a:buFont typeface="Times New Roman"/>
              <a:buChar char="●"/>
              <a:defRPr/>
            </a:pPr>
            <a:r>
              <a:rPr lang="es-AR" sz="1800" b="0" i="0" u="none">
                <a:ea typeface="Arial"/>
              </a:rPr>
              <a:t>RA.3: Planificar los componentes de HW, SW e Infraestructura mediante el análisis de los requerimientos y factibilidades para la implementación de un Datacenter que cubra el alcance del proyecto.</a:t>
            </a:r>
            <a:endParaRPr lang="en-US" sz="1800"/>
          </a:p>
          <a:p>
            <a:pPr marL="0" lvl="0" indent="0" algn="just">
              <a:spcBef>
                <a:spcPts val="625"/>
              </a:spcBef>
              <a:buFont typeface="Times New Roman"/>
              <a:buChar char="●"/>
              <a:defRPr/>
            </a:pPr>
            <a:r>
              <a:rPr lang="es-AR" sz="1800" b="0" i="0" u="none">
                <a:ea typeface="Arial"/>
              </a:rPr>
              <a:t>RA4: Diseñar un Plan Estratégico de Sistemas de Información, a través de la correcta asignación de Recursos, acorde a las necesidades de la organización. </a:t>
            </a:r>
            <a:endParaRPr/>
          </a:p>
        </p:txBody>
      </p:sp>
      <p:sp>
        <p:nvSpPr>
          <p:cNvPr id="557441573" name="Rectangle 3"/>
          <p:cNvSpPr>
            <a:spLocks noChangeShapeType="1" noGrp="1"/>
          </p:cNvSpPr>
          <p:nvPr/>
        </p:nvSpPr>
        <p:spPr bwMode="auto">
          <a:xfrm>
            <a:off x="2051050" y="360362"/>
            <a:ext cx="5184775" cy="457200"/>
          </a:xfrm>
          <a:prstGeom prst="rect">
            <a:avLst/>
          </a:prstGeom>
          <a:noFill/>
        </p:spPr>
        <p:txBody>
          <a:bodyPr lIns="91440" tIns="45720" rIns="91440" bIns="45720" anchor="ctr" anchorCtr="0">
            <a:spAutoFit/>
          </a:bodyPr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s-ES" sz="2400" b="1" i="0" u="sng">
                <a:solidFill>
                  <a:schemeClr val="accent2"/>
                </a:solidFill>
              </a:rPr>
              <a:t>ADMINISTRACIÓN DE RECURSOS</a:t>
            </a:r>
            <a:endParaRPr/>
          </a:p>
        </p:txBody>
      </p:sp>
      <p:sp>
        <p:nvSpPr>
          <p:cNvPr id="1412727876" name="Line 4"/>
          <p:cNvSpPr>
            <a:spLocks noChangeShapeType="1" noGrp="1"/>
          </p:cNvSpPr>
          <p:nvPr/>
        </p:nvSpPr>
        <p:spPr bwMode="auto">
          <a:xfrm>
            <a:off x="395287" y="1125537"/>
            <a:ext cx="8353425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606888" name="4 Marcador de pie de página"/>
          <p:cNvSpPr txBox="1">
            <a:spLocks noChangeShapeType="1" noGrp="1"/>
          </p:cNvSpPr>
          <p:nvPr/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s-ES" sz="1400"/>
              <a:t>Administración de SI </a:t>
            </a:r>
            <a:endParaRPr/>
          </a:p>
        </p:txBody>
      </p:sp>
      <p:sp>
        <p:nvSpPr>
          <p:cNvPr id="1828113167" name="5 Marcador de número de diapositiva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s-ES" sz="1400"/>
              <a:t>*</a:t>
            </a:fld>
            <a:endParaRPr/>
          </a:p>
        </p:txBody>
      </p:sp>
      <p:sp>
        <p:nvSpPr>
          <p:cNvPr id="96142051" name="Rectangle 2"/>
          <p:cNvSpPr>
            <a:spLocks noChangeShapeType="1" noGrp="1"/>
          </p:cNvSpPr>
          <p:nvPr>
            <p:ph type="body"/>
          </p:nvPr>
        </p:nvSpPr>
        <p:spPr bwMode="auto">
          <a:xfrm>
            <a:off x="457200" y="1557337"/>
            <a:ext cx="8229600" cy="446405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609600" lvl="0" indent="-609600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es-AR" sz="2800" b="1" i="0" u="sng"/>
              <a:t>Unidades del Programa y planificación estimada para 32 semanas</a:t>
            </a:r>
            <a:endParaRPr/>
          </a:p>
          <a:p>
            <a:pPr marL="609600" lvl="0" indent="-609600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es-ES_tradnl" sz="2800" b="1" i="0" u="none"/>
              <a:t>I -  Planificación estratégica: </a:t>
            </a:r>
            <a:r>
              <a:rPr lang="es-ES_tradnl" sz="2800"/>
              <a:t>(5 clases)</a:t>
            </a:r>
            <a:endParaRPr/>
          </a:p>
          <a:p>
            <a:pPr marL="609600" lvl="0" indent="-609600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es-ES_tradnl" sz="2800" b="1" i="0" u="none"/>
              <a:t>II-  Administración de RRHH</a:t>
            </a:r>
            <a:r>
              <a:rPr lang="es-ES_tradnl" sz="2800"/>
              <a:t> : (7 clases)</a:t>
            </a:r>
            <a:endParaRPr/>
          </a:p>
          <a:p>
            <a:pPr marL="609600" lvl="0" indent="-609600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es-AR" sz="2800" b="1" i="0" u="none"/>
              <a:t>II - Higiene y Seguridad en el Trabajo</a:t>
            </a:r>
            <a:r>
              <a:rPr lang="es-ES_tradnl" sz="2800"/>
              <a:t> (3 clases) </a:t>
            </a:r>
            <a:endParaRPr/>
          </a:p>
          <a:p>
            <a:pPr marL="609600" lvl="0" indent="-609600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es-ES_tradnl" sz="2800" b="1" i="0" u="none"/>
              <a:t>III – Administración de Hardware y Software</a:t>
            </a:r>
            <a:r>
              <a:rPr lang="es-ES_tradnl" sz="2800"/>
              <a:t> (9 clases)</a:t>
            </a:r>
            <a:endParaRPr/>
          </a:p>
          <a:p>
            <a:pPr marL="609600" lvl="0" indent="-609600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es-ES_tradnl" sz="2800"/>
              <a:t>Parciales, recuperatorios, exposiciones y globales (8 clases)</a:t>
            </a:r>
            <a:endParaRPr/>
          </a:p>
        </p:txBody>
      </p:sp>
      <p:sp>
        <p:nvSpPr>
          <p:cNvPr id="295938903" name="Rectangle 3"/>
          <p:cNvSpPr>
            <a:spLocks noChangeShapeType="1" noGrp="1"/>
          </p:cNvSpPr>
          <p:nvPr/>
        </p:nvSpPr>
        <p:spPr bwMode="auto">
          <a:xfrm>
            <a:off x="2051050" y="360362"/>
            <a:ext cx="5184775" cy="457200"/>
          </a:xfrm>
          <a:prstGeom prst="rect">
            <a:avLst/>
          </a:prstGeom>
          <a:noFill/>
        </p:spPr>
        <p:txBody>
          <a:bodyPr lIns="91440" tIns="45720" rIns="91440" bIns="45720" anchor="ctr" anchorCtr="0">
            <a:spAutoFit/>
          </a:bodyPr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s-ES" sz="2400" b="1" i="0" u="sng">
                <a:solidFill>
                  <a:schemeClr val="accent2"/>
                </a:solidFill>
              </a:rPr>
              <a:t>ADMINISTRACIÓN DE RECURSOS</a:t>
            </a:r>
            <a:endParaRPr/>
          </a:p>
        </p:txBody>
      </p:sp>
      <p:sp>
        <p:nvSpPr>
          <p:cNvPr id="158921111" name="Line 4"/>
          <p:cNvSpPr>
            <a:spLocks noChangeShapeType="1" noGrp="1"/>
          </p:cNvSpPr>
          <p:nvPr/>
        </p:nvSpPr>
        <p:spPr bwMode="auto">
          <a:xfrm>
            <a:off x="395287" y="1125537"/>
            <a:ext cx="8353425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2634681" name="5 Marcador de pie de página"/>
          <p:cNvSpPr txBox="1">
            <a:spLocks noChangeShapeType="1" noGrp="1"/>
          </p:cNvSpPr>
          <p:nvPr/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s-ES" sz="1400"/>
              <a:t>Administración de SI </a:t>
            </a:r>
            <a:endParaRPr/>
          </a:p>
        </p:txBody>
      </p:sp>
      <p:sp>
        <p:nvSpPr>
          <p:cNvPr id="940191146" name="6 Marcador de número de diapositiva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s-ES" sz="1400"/>
              <a:t>*</a:t>
            </a:fld>
            <a:endParaRPr/>
          </a:p>
        </p:txBody>
      </p:sp>
      <p:sp>
        <p:nvSpPr>
          <p:cNvPr id="281592216" name="Rectangle 2"/>
          <p:cNvSpPr>
            <a:spLocks noChangeShapeType="1" noGrp="1"/>
          </p:cNvSpPr>
          <p:nvPr>
            <p:ph type="body"/>
          </p:nvPr>
        </p:nvSpPr>
        <p:spPr bwMode="auto">
          <a:xfrm>
            <a:off x="457200" y="1600200"/>
            <a:ext cx="4038600" cy="452596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8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4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0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18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18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342900" lvl="0" indent="-342900">
              <a:spcBef>
                <a:spcPts val="0"/>
              </a:spcBef>
              <a:buNone/>
              <a:defRPr/>
            </a:pPr>
            <a:r>
              <a:rPr lang="es-ES" sz="1800" b="1" i="0" u="none"/>
              <a:t>Correlatividades:</a:t>
            </a:r>
            <a:endParaRPr/>
          </a:p>
        </p:txBody>
      </p:sp>
      <p:sp>
        <p:nvSpPr>
          <p:cNvPr id="509383544" name="Rectangle 3"/>
          <p:cNvSpPr>
            <a:spLocks noChangeShapeType="1" noGrp="1"/>
          </p:cNvSpPr>
          <p:nvPr/>
        </p:nvSpPr>
        <p:spPr bwMode="auto">
          <a:xfrm>
            <a:off x="2051050" y="360362"/>
            <a:ext cx="5184775" cy="457200"/>
          </a:xfrm>
          <a:prstGeom prst="rect">
            <a:avLst/>
          </a:prstGeom>
          <a:noFill/>
        </p:spPr>
        <p:txBody>
          <a:bodyPr lIns="91440" tIns="45720" rIns="91440" bIns="45720" anchor="ctr" anchorCtr="0">
            <a:spAutoFit/>
          </a:bodyPr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s-ES" sz="2400" b="1" i="0" u="sng">
                <a:solidFill>
                  <a:schemeClr val="accent2"/>
                </a:solidFill>
              </a:rPr>
              <a:t>ADMINISTRACIÓN DE RECURSOS</a:t>
            </a:r>
            <a:endParaRPr/>
          </a:p>
        </p:txBody>
      </p:sp>
      <p:sp>
        <p:nvSpPr>
          <p:cNvPr id="1907319802" name="Line 4"/>
          <p:cNvSpPr>
            <a:spLocks noChangeShapeType="1" noGrp="1"/>
          </p:cNvSpPr>
          <p:nvPr/>
        </p:nvSpPr>
        <p:spPr bwMode="auto">
          <a:xfrm>
            <a:off x="395287" y="1125537"/>
            <a:ext cx="8353425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graphicFrame>
        <p:nvGraphicFramePr>
          <p:cNvPr id="1328884764" name="Group 37"/>
          <p:cNvGraphicFramePr>
            <a:graphicFrameLocks xmlns:a="http://schemas.openxmlformats.org/drawingml/2006/main" noGrp="1"/>
          </p:cNvGraphicFramePr>
          <p:nvPr>
            <p:ph sz="half" idx="4294967295"/>
          </p:nvPr>
        </p:nvGraphicFramePr>
        <p:xfrm rot="0">
          <a:off x="468313" y="2205038"/>
          <a:ext cx="8218487" cy="3471862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740024"/>
                <a:gridCol w="2738437"/>
                <a:gridCol w="2740024"/>
              </a:tblGrid>
              <a:tr h="720791">
                <a:tc gridSpan="2">
                  <a:txBody>
                    <a:bodyPr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_tradnl" sz="2400" b="1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/>
                        </a:rPr>
                        <a:t>Para cursar</a:t>
                      </a:r>
                      <a:endParaRPr/>
                    </a:p>
                  </a:txBody>
                  <a:tcPr marT="45724" marB="45724">
                    <a:lnL w="28575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28575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>
                  <a:txBody>
                    <a:bodyPr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_tradnl" sz="2400" b="1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/>
                        </a:rPr>
                        <a:t>Para rendir</a:t>
                      </a:r>
                      <a:endParaRPr/>
                    </a:p>
                  </a:txBody>
                  <a:tcPr marT="45724" marB="45724">
                    <a:lnL w="12700" algn="ctr">
                      <a:solidFill>
                        <a:schemeClr val="tx1"/>
                      </a:solidFill>
                    </a:lnL>
                    <a:lnR w="28575" algn="ctr">
                      <a:solidFill>
                        <a:schemeClr val="tx1"/>
                      </a:solidFill>
                    </a:lnR>
                    <a:lnT w="28575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647759"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_tradnl" sz="20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/>
                        </a:rPr>
                        <a:t>Tener regulares</a:t>
                      </a:r>
                      <a:endParaRPr/>
                    </a:p>
                  </a:txBody>
                  <a:tcPr marT="45724" marB="45724">
                    <a:lnL w="28575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_tradnl" sz="20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/>
                        </a:rPr>
                        <a:t>Tener aprobadas</a:t>
                      </a:r>
                      <a:endParaRPr/>
                    </a:p>
                  </a:txBody>
                  <a:tcPr marT="45724" marB="45724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_tradnl" sz="20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/>
                        </a:rPr>
                        <a:t>Tener aprobadas</a:t>
                      </a:r>
                      <a:endParaRPr/>
                    </a:p>
                  </a:txBody>
                  <a:tcPr marT="45724" marB="45724">
                    <a:lnL w="12700" algn="ctr">
                      <a:solidFill>
                        <a:schemeClr val="tx1"/>
                      </a:solidFill>
                    </a:lnL>
                    <a:lnR w="28575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2103312"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defRPr/>
                      </a:pPr>
                      <a:r>
                        <a:rPr lang="es-ES_tradnl" sz="20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/>
                        </a:rPr>
                        <a:t>Diseño de Sistemas.</a:t>
                      </a:r>
                      <a:endParaRPr/>
                    </a:p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defRPr/>
                      </a:pPr>
                      <a:r>
                        <a:rPr lang="es-ES_tradnl" sz="20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/>
                        </a:rPr>
                        <a:t>Economía.</a:t>
                      </a:r>
                      <a:endParaRPr/>
                    </a:p>
                  </a:txBody>
                  <a:tcPr marT="45724" marB="45724">
                    <a:lnL w="28575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28575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defRPr/>
                      </a:pPr>
                      <a:r>
                        <a:rPr lang="es-ES_tradnl" sz="20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/>
                        </a:rPr>
                        <a:t>Análisis de Sistemas.</a:t>
                      </a:r>
                      <a:endParaRPr/>
                    </a:p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s-ES_tradnl" sz="2000" b="0" i="0" u="none" strike="noStrike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T="45724" marB="45724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28575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defRPr/>
                      </a:pPr>
                      <a:r>
                        <a:rPr lang="es-ES_tradnl" sz="20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/>
                        </a:rPr>
                        <a:t>Diseño de Sistemas.</a:t>
                      </a:r>
                      <a:endParaRPr/>
                    </a:p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defRPr/>
                      </a:pPr>
                      <a:r>
                        <a:rPr lang="es-ES_tradnl" sz="20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/>
                        </a:rPr>
                        <a:t>Economía.</a:t>
                      </a:r>
                      <a:endParaRPr/>
                    </a:p>
                  </a:txBody>
                  <a:tcPr marT="45724" marB="45724">
                    <a:lnL w="12700" algn="ctr">
                      <a:solidFill>
                        <a:schemeClr val="tx1"/>
                      </a:solidFill>
                    </a:lnL>
                    <a:lnR w="28575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28575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6551917" name="4 Marcador de pie de página"/>
          <p:cNvSpPr txBox="1">
            <a:spLocks noChangeShapeType="1" noGrp="1"/>
          </p:cNvSpPr>
          <p:nvPr/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s-ES" sz="1400"/>
              <a:t>Administración de SI </a:t>
            </a:r>
            <a:endParaRPr/>
          </a:p>
        </p:txBody>
      </p:sp>
      <p:sp>
        <p:nvSpPr>
          <p:cNvPr id="996410376" name="5 Marcador de número de diapositiva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s-ES" sz="1400"/>
              <a:t>*</a:t>
            </a:fld>
            <a:endParaRPr/>
          </a:p>
        </p:txBody>
      </p:sp>
      <p:sp>
        <p:nvSpPr>
          <p:cNvPr id="1051319621" name="Rectangle 2"/>
          <p:cNvSpPr>
            <a:spLocks noChangeShapeType="1" noGrp="1"/>
          </p:cNvSpPr>
          <p:nvPr>
            <p:ph type="body"/>
          </p:nvPr>
        </p:nvSpPr>
        <p:spPr bwMode="auto">
          <a:xfrm>
            <a:off x="395287" y="1341437"/>
            <a:ext cx="8229600" cy="490378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342900" lvl="0" indent="-34290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s-ES_tradnl" sz="2000"/>
              <a:t>Se considerarán en la Evaluación continúa de la cátedra además:</a:t>
            </a:r>
            <a:endParaRPr/>
          </a:p>
          <a:p>
            <a:pPr marL="342900" lvl="0" indent="-342900">
              <a:lnSpc>
                <a:spcPct val="80000"/>
              </a:lnSpc>
              <a:spcBef>
                <a:spcPts val="0"/>
              </a:spcBef>
              <a:buChar char="•"/>
              <a:defRPr/>
            </a:pPr>
            <a:r>
              <a:rPr lang="es-ES_tradnl" sz="2000"/>
              <a:t>La participación en clases del alumno.</a:t>
            </a:r>
            <a:endParaRPr/>
          </a:p>
          <a:p>
            <a:pPr marL="342900" lvl="0" indent="-342900">
              <a:lnSpc>
                <a:spcPct val="80000"/>
              </a:lnSpc>
              <a:spcBef>
                <a:spcPts val="0"/>
              </a:spcBef>
              <a:buChar char="•"/>
              <a:defRPr/>
            </a:pPr>
            <a:r>
              <a:rPr lang="es-ES_tradnl" sz="2000"/>
              <a:t>La realización de análisis de casos en grupo.</a:t>
            </a:r>
            <a:endParaRPr/>
          </a:p>
          <a:p>
            <a:pPr marL="342900" lvl="0" indent="-342900">
              <a:lnSpc>
                <a:spcPct val="80000"/>
              </a:lnSpc>
              <a:spcBef>
                <a:spcPts val="0"/>
              </a:spcBef>
              <a:buChar char="•"/>
              <a:defRPr/>
            </a:pPr>
            <a:r>
              <a:rPr lang="es-ES_tradnl" sz="2000"/>
              <a:t>Lectura y análisis de textos complementarios.</a:t>
            </a:r>
            <a:endParaRPr/>
          </a:p>
          <a:p>
            <a:pPr marL="342900" lvl="0" indent="-342900">
              <a:lnSpc>
                <a:spcPct val="80000"/>
              </a:lnSpc>
              <a:spcBef>
                <a:spcPts val="0"/>
              </a:spcBef>
              <a:buChar char="•"/>
              <a:defRPr/>
            </a:pPr>
            <a:r>
              <a:rPr lang="es-ES_tradnl" sz="2000"/>
              <a:t>Presentación de trabajos en tiempo y forma.</a:t>
            </a:r>
            <a:endParaRPr/>
          </a:p>
          <a:p>
            <a:pPr marL="342900" lvl="0" indent="-342900">
              <a:lnSpc>
                <a:spcPct val="80000"/>
              </a:lnSpc>
              <a:spcBef>
                <a:spcPts val="0"/>
              </a:spcBef>
              <a:buNone/>
              <a:defRPr/>
            </a:pPr>
            <a:endParaRPr lang="en-US" sz="2000"/>
          </a:p>
          <a:p>
            <a:pPr marL="342900" lvl="0" indent="-34290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s-ES_tradnl" sz="2000"/>
              <a:t>El método de evaluación contendrá como instrumentos:</a:t>
            </a:r>
            <a:endParaRPr/>
          </a:p>
          <a:p>
            <a:pPr marL="342900" lvl="0" indent="-342900">
              <a:lnSpc>
                <a:spcPct val="80000"/>
              </a:lnSpc>
              <a:spcBef>
                <a:spcPts val="0"/>
              </a:spcBef>
              <a:buChar char="•"/>
              <a:defRPr/>
            </a:pPr>
            <a:r>
              <a:rPr lang="es-ES_tradnl" sz="2000"/>
              <a:t>Tres instancias parciales.</a:t>
            </a:r>
            <a:endParaRPr/>
          </a:p>
          <a:p>
            <a:pPr marL="342900" lvl="0" indent="-342900">
              <a:lnSpc>
                <a:spcPct val="80000"/>
              </a:lnSpc>
              <a:spcBef>
                <a:spcPts val="0"/>
              </a:spcBef>
              <a:buChar char="•"/>
              <a:defRPr/>
            </a:pPr>
            <a:r>
              <a:rPr lang="es-ES_tradnl" sz="2000"/>
              <a:t>3 Trabajos (en Teoría) grupales</a:t>
            </a:r>
            <a:endParaRPr/>
          </a:p>
          <a:p>
            <a:pPr marL="342900" lvl="0" indent="-342900">
              <a:lnSpc>
                <a:spcPct val="80000"/>
              </a:lnSpc>
              <a:spcBef>
                <a:spcPts val="0"/>
              </a:spcBef>
              <a:buChar char="•"/>
              <a:defRPr/>
            </a:pPr>
            <a:r>
              <a:rPr lang="es-ES_tradnl" sz="2000"/>
              <a:t>4 Trabajos prácticos grupales.</a:t>
            </a:r>
            <a:endParaRPr/>
          </a:p>
          <a:p>
            <a:pPr marL="342900" lvl="0" indent="-342900">
              <a:lnSpc>
                <a:spcPct val="80000"/>
              </a:lnSpc>
              <a:spcBef>
                <a:spcPts val="0"/>
              </a:spcBef>
              <a:buChar char="•"/>
              <a:defRPr/>
            </a:pPr>
            <a:r>
              <a:rPr lang="es-ES_tradnl" sz="2000"/>
              <a:t>1 trabajo global integrador individual / Exámen Global (obligatorio para AD).</a:t>
            </a:r>
            <a:endParaRPr/>
          </a:p>
          <a:p>
            <a:pPr marL="342900" lvl="0" indent="-342900">
              <a:lnSpc>
                <a:spcPct val="80000"/>
              </a:lnSpc>
              <a:spcBef>
                <a:spcPts val="0"/>
              </a:spcBef>
              <a:buChar char="•"/>
              <a:defRPr/>
            </a:pPr>
            <a:r>
              <a:rPr lang="es-ES_tradnl" sz="2000"/>
              <a:t>Sumar créditos, entendidos como aportes a la cátedra o trabajo de Promoción (para promocionar)</a:t>
            </a:r>
            <a:endParaRPr/>
          </a:p>
          <a:p>
            <a:pPr marL="342900" lvl="0" indent="-342900">
              <a:lnSpc>
                <a:spcPct val="80000"/>
              </a:lnSpc>
              <a:spcBef>
                <a:spcPts val="0"/>
              </a:spcBef>
              <a:buChar char="•"/>
              <a:defRPr/>
            </a:pPr>
            <a:r>
              <a:rPr lang="es-ES_tradnl" sz="2000"/>
              <a:t>Entregas</a:t>
            </a:r>
            <a:r>
              <a:rPr lang="es-ES_tradnl" sz="2000" b="0" i="0" u="none"/>
              <a:t> </a:t>
            </a:r>
            <a:r>
              <a:rPr lang="es-ES_tradnl" sz="2000" b="0" i="0" u="none"/>
              <a:t>en</a:t>
            </a:r>
            <a:r>
              <a:rPr lang="es-ES_tradnl" sz="2000" b="0" i="0" u="none"/>
              <a:t> </a:t>
            </a:r>
            <a:r>
              <a:rPr lang="es-ES_tradnl" sz="2000" b="0" i="0" u="none"/>
              <a:t>tiempo</a:t>
            </a:r>
            <a:r>
              <a:rPr lang="es-ES_tradnl" sz="2000" b="0" i="0" u="none"/>
              <a:t> </a:t>
            </a:r>
            <a:r>
              <a:rPr lang="es-ES_tradnl" sz="2000" b="0" i="0" u="none"/>
              <a:t>y</a:t>
            </a:r>
            <a:r>
              <a:rPr lang="es-ES_tradnl" sz="2000" b="0" i="0" u="none"/>
              <a:t> </a:t>
            </a:r>
            <a:r>
              <a:rPr lang="es-ES_tradnl" sz="2000" b="0" i="0" u="none"/>
              <a:t>forma</a:t>
            </a:r>
            <a:r>
              <a:rPr lang="es-ES_tradnl" sz="2000" b="0" i="0" u="none"/>
              <a:t> </a:t>
            </a:r>
            <a:r>
              <a:rPr lang="es-ES_tradnl" sz="2000" b="0" i="0" u="none"/>
              <a:t>de</a:t>
            </a:r>
            <a:r>
              <a:rPr lang="es-ES_tradnl" sz="2000" b="0" i="0" u="none"/>
              <a:t> </a:t>
            </a:r>
            <a:r>
              <a:rPr lang="es-ES_tradnl" sz="2000" b="0" i="0" u="none"/>
              <a:t>Talleres.</a:t>
            </a:r>
            <a:r>
              <a:rPr lang="es-ES_tradnl" sz="2000" b="0" i="0" u="none"/>
              <a:t> </a:t>
            </a:r>
            <a:r>
              <a:rPr lang="es-ES_tradnl" sz="2000" b="0" i="0" u="none"/>
              <a:t>Se</a:t>
            </a:r>
            <a:r>
              <a:rPr lang="es-ES_tradnl" sz="2000" b="0" i="0" u="none"/>
              <a:t> </a:t>
            </a:r>
            <a:r>
              <a:rPr lang="es-ES_tradnl" sz="2000"/>
              <a:t>debe</a:t>
            </a:r>
            <a:r>
              <a:rPr lang="es-ES_tradnl" sz="2000" b="0" i="0" u="none"/>
              <a:t> </a:t>
            </a:r>
            <a:r>
              <a:rPr lang="es-ES_tradnl" sz="2000" b="0" i="0" u="none"/>
              <a:t>justificar</a:t>
            </a:r>
            <a:r>
              <a:rPr lang="es-ES_tradnl" sz="2000" b="0" i="0" u="none"/>
              <a:t> </a:t>
            </a:r>
            <a:r>
              <a:rPr lang="es-ES_tradnl" sz="2000" b="0" i="0" u="none"/>
              <a:t>las</a:t>
            </a:r>
            <a:r>
              <a:rPr lang="es-ES_tradnl" sz="2000" b="0" i="0" u="none"/>
              <a:t> </a:t>
            </a:r>
            <a:r>
              <a:rPr lang="es-ES_tradnl" sz="2000" b="0" i="0" u="none"/>
              <a:t>faltas</a:t>
            </a:r>
            <a:r>
              <a:rPr lang="es-ES_tradnl" sz="2000" b="0" i="0" u="none"/>
              <a:t> </a:t>
            </a:r>
            <a:r>
              <a:rPr lang="es-ES_tradnl" sz="2000" b="0" i="0" u="none"/>
              <a:t>en</a:t>
            </a:r>
            <a:r>
              <a:rPr lang="es-ES_tradnl" sz="2000" b="0" i="0" u="none"/>
              <a:t> </a:t>
            </a:r>
            <a:r>
              <a:rPr lang="es-ES_tradnl" sz="2000" b="0" i="0" u="none"/>
              <a:t>cualquier instancia</a:t>
            </a:r>
            <a:r>
              <a:rPr lang="es-ES_tradnl" sz="2000" b="0" i="0" u="none"/>
              <a:t> </a:t>
            </a:r>
            <a:r>
              <a:rPr lang="es-ES_tradnl" sz="2000" b="0" i="0" u="none"/>
              <a:t>de</a:t>
            </a:r>
            <a:r>
              <a:rPr lang="es-ES_tradnl" sz="2000" b="0" i="0" u="none"/>
              <a:t> </a:t>
            </a:r>
            <a:r>
              <a:rPr lang="es-ES_tradnl" sz="2000" b="0" i="0" u="none"/>
              <a:t>evaluació</a:t>
            </a:r>
            <a:r>
              <a:rPr lang="es-ES_tradnl" sz="2000" b="0" i="0" u="none"/>
              <a:t>n</a:t>
            </a:r>
            <a:endParaRPr lang="en-US" sz="2000"/>
          </a:p>
          <a:p>
            <a:pPr marL="342900" lvl="0" indent="-34290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s-ES_tradnl" sz="1600"/>
              <a:t>Valores de evaluación, según Ordenanza 1549</a:t>
            </a:r>
            <a:endParaRPr/>
          </a:p>
        </p:txBody>
      </p:sp>
      <p:sp>
        <p:nvSpPr>
          <p:cNvPr id="576695375" name="Rectangle 3"/>
          <p:cNvSpPr>
            <a:spLocks noChangeShapeType="1" noGrp="1"/>
          </p:cNvSpPr>
          <p:nvPr/>
        </p:nvSpPr>
        <p:spPr bwMode="auto">
          <a:xfrm>
            <a:off x="2051050" y="360362"/>
            <a:ext cx="5184775" cy="457200"/>
          </a:xfrm>
          <a:prstGeom prst="rect">
            <a:avLst/>
          </a:prstGeom>
          <a:noFill/>
        </p:spPr>
        <p:txBody>
          <a:bodyPr lIns="91440" tIns="45720" rIns="91440" bIns="45720" anchor="ctr" anchorCtr="0">
            <a:spAutoFit/>
          </a:bodyPr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s-ES" sz="2400" b="1" i="0" u="sng">
                <a:solidFill>
                  <a:schemeClr val="accent2"/>
                </a:solidFill>
              </a:rPr>
              <a:t>ADMINISTRACIÓN DE RECURSOS</a:t>
            </a:r>
            <a:endParaRPr/>
          </a:p>
        </p:txBody>
      </p:sp>
      <p:sp>
        <p:nvSpPr>
          <p:cNvPr id="464945263" name="Line 4"/>
          <p:cNvSpPr>
            <a:spLocks noChangeShapeType="1" noGrp="1"/>
          </p:cNvSpPr>
          <p:nvPr/>
        </p:nvSpPr>
        <p:spPr bwMode="auto">
          <a:xfrm>
            <a:off x="395287" y="1125537"/>
            <a:ext cx="8353425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9027472" name="4 Marcador de pie de página"/>
          <p:cNvSpPr txBox="1">
            <a:spLocks noChangeShapeType="1" noGrp="1"/>
          </p:cNvSpPr>
          <p:nvPr/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s-ES" sz="1400"/>
              <a:t>Administracion de Recursos </a:t>
            </a:r>
            <a:endParaRPr/>
          </a:p>
        </p:txBody>
      </p:sp>
      <p:sp>
        <p:nvSpPr>
          <p:cNvPr id="368671318" name="5 Marcador de número de diapositiva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s-ES" sz="1400"/>
              <a:t>*</a:t>
            </a:fld>
            <a:endParaRPr/>
          </a:p>
        </p:txBody>
      </p:sp>
      <p:sp>
        <p:nvSpPr>
          <p:cNvPr id="1714307196" name="Rectangle 3"/>
          <p:cNvSpPr>
            <a:spLocks noChangeShapeType="1" noGrp="1"/>
          </p:cNvSpPr>
          <p:nvPr/>
        </p:nvSpPr>
        <p:spPr bwMode="auto">
          <a:xfrm>
            <a:off x="2051050" y="360362"/>
            <a:ext cx="5184775" cy="457200"/>
          </a:xfrm>
          <a:prstGeom prst="rect">
            <a:avLst/>
          </a:prstGeom>
          <a:noFill/>
        </p:spPr>
        <p:txBody>
          <a:bodyPr lIns="91440" tIns="45720" rIns="91440" bIns="45720" anchor="ctr" anchorCtr="0">
            <a:spAutoFit/>
          </a:bodyPr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s-ES" sz="2400" b="1" i="0" u="sng">
                <a:solidFill>
                  <a:schemeClr val="accent2"/>
                </a:solidFill>
              </a:rPr>
              <a:t>ADMINISTRACIÓN DE RECURSOS</a:t>
            </a:r>
            <a:endParaRPr/>
          </a:p>
        </p:txBody>
      </p:sp>
      <p:sp>
        <p:nvSpPr>
          <p:cNvPr id="1783065727" name="Line 4"/>
          <p:cNvSpPr>
            <a:spLocks noChangeShapeType="1" noGrp="1"/>
          </p:cNvSpPr>
          <p:nvPr/>
        </p:nvSpPr>
        <p:spPr bwMode="auto">
          <a:xfrm>
            <a:off x="395287" y="1125537"/>
            <a:ext cx="8353425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graphicFrame>
        <p:nvGraphicFramePr>
          <p:cNvPr id="2127397620" name="Group 144"/>
          <p:cNvGraphicFramePr>
            <a:graphicFrameLocks xmlns:a="http://schemas.openxmlformats.org/drawingml/2006/main" noGrp="1"/>
          </p:cNvGraphicFramePr>
          <p:nvPr>
            <p:ph idx="4294967295"/>
          </p:nvPr>
        </p:nvGraphicFramePr>
        <p:xfrm rot="0">
          <a:off x="606425" y="1125538"/>
          <a:ext cx="8080375" cy="5226052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3153915"/>
                <a:gridCol w="1321379"/>
                <a:gridCol w="1174198"/>
                <a:gridCol w="1319761"/>
                <a:gridCol w="1111122"/>
              </a:tblGrid>
              <a:tr h="701299"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_tradnl" sz="20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/>
                        </a:rPr>
                        <a:t>Notas, condiciones o % mínimos esperados</a:t>
                      </a:r>
                      <a:endParaRPr/>
                    </a:p>
                  </a:txBody>
                  <a:tcPr marT="45740" marB="45740">
                    <a:lnL w="28575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28575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 gridSpan="2"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_tradnl" sz="20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/>
                        </a:rPr>
                        <a:t>Para AD</a:t>
                      </a:r>
                      <a:endParaRPr/>
                    </a:p>
                  </a:txBody>
                  <a:tcPr marT="45740" marB="45740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28575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gridSpan="2"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_tradnl" sz="20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/>
                        </a:rPr>
                        <a:t>Para AC</a:t>
                      </a:r>
                      <a:endParaRPr/>
                    </a:p>
                  </a:txBody>
                  <a:tcPr marT="45740" marB="45740">
                    <a:lnL w="12700" algn="ctr">
                      <a:solidFill>
                        <a:schemeClr val="tx1"/>
                      </a:solidFill>
                    </a:lnL>
                    <a:lnR w="28575" algn="ctr">
                      <a:solidFill>
                        <a:schemeClr val="tx1"/>
                      </a:solidFill>
                    </a:lnR>
                    <a:lnT w="28575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403422"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s-ES_tradnl" sz="2000" b="0" i="0" u="none" strike="noStrike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T="45740" marB="45740">
                    <a:lnL w="28575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_tradnl" sz="20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/>
                        </a:rPr>
                        <a:t>Individual</a:t>
                      </a:r>
                      <a:endParaRPr/>
                    </a:p>
                  </a:txBody>
                  <a:tcPr marT="45740" marB="45740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_tradnl" sz="20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/>
                        </a:rPr>
                        <a:t>Grupal</a:t>
                      </a:r>
                      <a:endParaRPr/>
                    </a:p>
                  </a:txBody>
                  <a:tcPr marT="45740" marB="45740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_tradnl" sz="20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/>
                        </a:rPr>
                        <a:t>Individual</a:t>
                      </a:r>
                      <a:endParaRPr/>
                    </a:p>
                  </a:txBody>
                  <a:tcPr marT="45740" marB="45740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_tradnl" sz="20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/>
                        </a:rPr>
                        <a:t>Grupal</a:t>
                      </a:r>
                      <a:endParaRPr/>
                    </a:p>
                  </a:txBody>
                  <a:tcPr marT="45740" marB="45740">
                    <a:lnL w="12700" algn="ctr">
                      <a:solidFill>
                        <a:schemeClr val="tx1"/>
                      </a:solidFill>
                    </a:lnL>
                    <a:lnR w="28575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403422"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_tradnl" sz="1800" b="0" i="0" u="none" strike="noStrike" cap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Tahoma"/>
                          <a:ea typeface="Times New Roman"/>
                          <a:cs typeface="Tahoma"/>
                        </a:rPr>
                        <a:t>Trabajos Prácticos</a:t>
                      </a:r>
                      <a:endParaRPr/>
                    </a:p>
                  </a:txBody>
                  <a:tcPr marT="45740" marB="45740">
                    <a:lnL w="28575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_tradnl" sz="20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/>
                        </a:rPr>
                        <a:t>6</a:t>
                      </a:r>
                      <a:endParaRPr/>
                    </a:p>
                  </a:txBody>
                  <a:tcPr marT="45740" marB="45740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_tradnl" sz="20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/>
                        </a:rPr>
                        <a:t>6</a:t>
                      </a:r>
                      <a:endParaRPr/>
                    </a:p>
                  </a:txBody>
                  <a:tcPr marT="45740" marB="45740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_tradnl" sz="20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/>
                        </a:rPr>
                        <a:t>4</a:t>
                      </a:r>
                      <a:endParaRPr/>
                    </a:p>
                  </a:txBody>
                  <a:tcPr marT="45740" marB="45740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_tradnl" sz="20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/>
                        </a:rPr>
                        <a:t>4</a:t>
                      </a:r>
                      <a:endParaRPr/>
                    </a:p>
                  </a:txBody>
                  <a:tcPr marT="45740" marB="45740">
                    <a:lnL w="12700" algn="ctr">
                      <a:solidFill>
                        <a:schemeClr val="tx1"/>
                      </a:solidFill>
                    </a:lnL>
                    <a:lnR w="28575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640318"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_tradnl" sz="1800" b="0" i="0" u="none" strike="noStrike" cap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Tahoma"/>
                          <a:ea typeface="Times New Roman"/>
                          <a:cs typeface="Tahoma"/>
                        </a:rPr>
                        <a:t>Talleres de trabajo (asistencia y entregas)</a:t>
                      </a:r>
                      <a:endParaRPr/>
                    </a:p>
                  </a:txBody>
                  <a:tcPr marT="45740" marB="45740">
                    <a:lnL w="28575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_tradnl" sz="20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/>
                        </a:rPr>
                        <a:t>70% </a:t>
                      </a:r>
                      <a:endParaRPr/>
                    </a:p>
                  </a:txBody>
                  <a:tcPr marT="45740" marB="45740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_tradnl" sz="20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/>
                        </a:rPr>
                        <a:t>70%</a:t>
                      </a:r>
                      <a:endParaRPr/>
                    </a:p>
                  </a:txBody>
                  <a:tcPr marT="45740" marB="45740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_tradnl" sz="20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/>
                        </a:rPr>
                        <a:t>70%</a:t>
                      </a:r>
                      <a:endParaRPr/>
                    </a:p>
                  </a:txBody>
                  <a:tcPr marT="45740" marB="45740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_tradnl" sz="20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/>
                        </a:rPr>
                        <a:t>70%</a:t>
                      </a:r>
                      <a:endParaRPr/>
                    </a:p>
                  </a:txBody>
                  <a:tcPr marT="45740" marB="45740">
                    <a:lnL w="12700" algn="ctr">
                      <a:solidFill>
                        <a:schemeClr val="tx1"/>
                      </a:solidFill>
                    </a:lnL>
                    <a:lnR w="28575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403422"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_tradnl" sz="1800" b="0" i="0" u="none" strike="noStrike" cap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Tahoma"/>
                          <a:ea typeface="Times New Roman"/>
                          <a:cs typeface="Tahoma"/>
                        </a:rPr>
                        <a:t>Presentaciones/coloquios :</a:t>
                      </a:r>
                      <a:endParaRPr/>
                    </a:p>
                  </a:txBody>
                  <a:tcPr marT="45740" marB="45740">
                    <a:lnL w="28575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_tradnl" sz="20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/>
                        </a:rPr>
                        <a:t>6</a:t>
                      </a:r>
                      <a:endParaRPr/>
                    </a:p>
                  </a:txBody>
                  <a:tcPr marT="45740" marB="45740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_tradnl" sz="20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/>
                        </a:rPr>
                        <a:t>6</a:t>
                      </a:r>
                      <a:endParaRPr/>
                    </a:p>
                  </a:txBody>
                  <a:tcPr marT="45740" marB="45740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_tradnl" sz="20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/>
                        </a:rPr>
                        <a:t>4</a:t>
                      </a:r>
                      <a:endParaRPr/>
                    </a:p>
                  </a:txBody>
                  <a:tcPr marT="45740" marB="45740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_tradnl" sz="20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/>
                        </a:rPr>
                        <a:t>4</a:t>
                      </a:r>
                      <a:endParaRPr/>
                    </a:p>
                  </a:txBody>
                  <a:tcPr marT="45740" marB="45740">
                    <a:lnL w="12700" algn="ctr">
                      <a:solidFill>
                        <a:schemeClr val="tx1"/>
                      </a:solidFill>
                    </a:lnL>
                    <a:lnR w="28575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403422"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_tradnl" sz="1800" b="0" i="0" u="none" strike="noStrike" cap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Tahoma"/>
                          <a:ea typeface="Times New Roman"/>
                          <a:cs typeface="Tahoma"/>
                        </a:rPr>
                        <a:t>Parciales</a:t>
                      </a:r>
                      <a:endParaRPr/>
                    </a:p>
                  </a:txBody>
                  <a:tcPr marT="45740" marB="45740">
                    <a:lnL w="28575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_tradnl" sz="20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/>
                        </a:rPr>
                        <a:t>6</a:t>
                      </a:r>
                      <a:endParaRPr/>
                    </a:p>
                  </a:txBody>
                  <a:tcPr marT="45740" marB="45740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_tradnl" sz="20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/>
                        </a:rPr>
                        <a:t>-</a:t>
                      </a:r>
                      <a:endParaRPr/>
                    </a:p>
                  </a:txBody>
                  <a:tcPr marT="45740" marB="45740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_tradnl" sz="20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/>
                        </a:rPr>
                        <a:t>4</a:t>
                      </a:r>
                      <a:endParaRPr/>
                    </a:p>
                  </a:txBody>
                  <a:tcPr marT="45740" marB="45740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_tradnl" sz="20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/>
                        </a:rPr>
                        <a:t>-</a:t>
                      </a:r>
                      <a:endParaRPr/>
                    </a:p>
                  </a:txBody>
                  <a:tcPr marT="45740" marB="45740">
                    <a:lnL w="12700" algn="ctr">
                      <a:solidFill>
                        <a:schemeClr val="tx1"/>
                      </a:solidFill>
                    </a:lnL>
                    <a:lnR w="28575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530769"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_tradnl" sz="1800" b="0" i="0" u="none" strike="noStrike" cap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Tahoma"/>
                          <a:ea typeface="Times New Roman"/>
                          <a:cs typeface="Tahoma"/>
                        </a:rPr>
                        <a:t>Recuperatorios de parciales</a:t>
                      </a:r>
                      <a:endParaRPr/>
                    </a:p>
                  </a:txBody>
                  <a:tcPr marT="45740" marB="45740">
                    <a:lnL w="28575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_tradnl" sz="20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/>
                        </a:rPr>
                        <a:t>6</a:t>
                      </a:r>
                      <a:endParaRPr/>
                    </a:p>
                  </a:txBody>
                  <a:tcPr marT="45740" marB="45740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_tradnl" sz="20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/>
                        </a:rPr>
                        <a:t>-</a:t>
                      </a:r>
                      <a:endParaRPr/>
                    </a:p>
                  </a:txBody>
                  <a:tcPr marT="45740" marB="45740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_tradnl" sz="20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/>
                        </a:rPr>
                        <a:t>4</a:t>
                      </a:r>
                      <a:endParaRPr/>
                    </a:p>
                  </a:txBody>
                  <a:tcPr marT="45740" marB="45740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_tradnl" sz="20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/>
                        </a:rPr>
                        <a:t>-</a:t>
                      </a:r>
                      <a:endParaRPr/>
                    </a:p>
                  </a:txBody>
                  <a:tcPr marT="45740" marB="45740">
                    <a:lnL w="12700" algn="ctr">
                      <a:solidFill>
                        <a:schemeClr val="tx1"/>
                      </a:solidFill>
                    </a:lnL>
                    <a:lnR w="28575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403422"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_tradnl" sz="1800" b="0" i="0" u="none" strike="noStrike" cap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Tahoma"/>
                          <a:ea typeface="Times New Roman"/>
                          <a:cs typeface="Tahoma"/>
                        </a:rPr>
                        <a:t>Global integrador</a:t>
                      </a:r>
                      <a:endParaRPr/>
                    </a:p>
                  </a:txBody>
                  <a:tcPr marT="45740" marB="45740">
                    <a:lnL w="28575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_tradnl" sz="20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/>
                        </a:rPr>
                        <a:t>6</a:t>
                      </a:r>
                      <a:endParaRPr/>
                    </a:p>
                  </a:txBody>
                  <a:tcPr marT="45740" marB="45740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_tradnl" sz="20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/>
                        </a:rPr>
                        <a:t>- </a:t>
                      </a:r>
                      <a:endParaRPr/>
                    </a:p>
                  </a:txBody>
                  <a:tcPr marT="45740" marB="45740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_tradnl" sz="20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/>
                        </a:rPr>
                        <a:t>-</a:t>
                      </a:r>
                      <a:endParaRPr/>
                    </a:p>
                  </a:txBody>
                  <a:tcPr marT="45740" marB="45740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_tradnl" sz="20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/>
                        </a:rPr>
                        <a:t>-</a:t>
                      </a:r>
                      <a:endParaRPr/>
                    </a:p>
                  </a:txBody>
                  <a:tcPr marT="45740" marB="45740">
                    <a:lnL w="12700" algn="ctr">
                      <a:solidFill>
                        <a:schemeClr val="tx1"/>
                      </a:solidFill>
                    </a:lnL>
                    <a:lnR w="28575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635390"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_tradnl" sz="1800" b="0" i="0" u="none" strike="noStrike" cap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Tahoma"/>
                          <a:ea typeface="Times New Roman"/>
                          <a:cs typeface="Tahoma"/>
                        </a:rPr>
                        <a:t>Créditos (2)</a:t>
                      </a:r>
                      <a:endParaRPr/>
                    </a:p>
                  </a:txBody>
                  <a:tcPr marT="45740" marB="45740">
                    <a:lnL w="28575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_tradnl" sz="20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/>
                        </a:rPr>
                        <a:t>A</a:t>
                      </a:r>
                      <a:endParaRPr/>
                    </a:p>
                  </a:txBody>
                  <a:tcPr marT="45740" marB="45740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_tradnl" sz="20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/>
                        </a:rPr>
                        <a:t>A</a:t>
                      </a:r>
                      <a:endParaRPr/>
                    </a:p>
                  </a:txBody>
                  <a:tcPr marT="45740" marB="45740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_tradnl" sz="20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/>
                        </a:rPr>
                        <a:t>-</a:t>
                      </a:r>
                      <a:endParaRPr/>
                    </a:p>
                  </a:txBody>
                  <a:tcPr marT="45740" marB="45740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_tradnl" sz="20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/>
                        </a:rPr>
                        <a:t>-</a:t>
                      </a:r>
                      <a:endParaRPr/>
                    </a:p>
                  </a:txBody>
                  <a:tcPr marT="45740" marB="45740">
                    <a:lnL w="12700" algn="ctr">
                      <a:solidFill>
                        <a:schemeClr val="tx1"/>
                      </a:solidFill>
                    </a:lnL>
                    <a:lnR w="28575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701166"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_tradnl" sz="1800" b="0" i="0" u="none" strike="noStrike" cap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Tahoma"/>
                          <a:ea typeface="Times New Roman"/>
                          <a:cs typeface="Tahoma"/>
                        </a:rPr>
                        <a:t>Participación presencial y virtual</a:t>
                      </a:r>
                      <a:endParaRPr/>
                    </a:p>
                  </a:txBody>
                  <a:tcPr marT="45740" marB="45740">
                    <a:lnL w="28575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28575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_tradnl" sz="20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/>
                        </a:rPr>
                        <a:t>Media (10)</a:t>
                      </a:r>
                      <a:endParaRPr/>
                    </a:p>
                  </a:txBody>
                  <a:tcPr marT="45740" marB="45740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28575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s-ES_tradnl" sz="2000" b="0" i="0" u="none" strike="noStrike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T="45740" marB="45740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28575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_tradnl" sz="20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/>
                        </a:rPr>
                        <a:t>Mínima (4)</a:t>
                      </a:r>
                      <a:endParaRPr/>
                    </a:p>
                  </a:txBody>
                  <a:tcPr marT="45740" marB="45740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28575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s-ES_tradnl" sz="2000" b="0" i="0" u="none" strike="noStrike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T="45740" marB="45740">
                    <a:lnL w="12700" algn="ctr">
                      <a:solidFill>
                        <a:schemeClr val="tx1"/>
                      </a:solidFill>
                    </a:lnL>
                    <a:lnR w="28575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28575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011067" name="4 Marcador de pie de página"/>
          <p:cNvSpPr txBox="1">
            <a:spLocks noChangeShapeType="1" noGrp="1"/>
          </p:cNvSpPr>
          <p:nvPr/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s-ES" sz="1400"/>
              <a:t>Administración de SI </a:t>
            </a:r>
            <a:endParaRPr/>
          </a:p>
        </p:txBody>
      </p:sp>
      <p:sp>
        <p:nvSpPr>
          <p:cNvPr id="731977360" name="5 Marcador de número de diapositiva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s-ES" sz="1400"/>
              <a:t>*</a:t>
            </a:fld>
            <a:endParaRPr/>
          </a:p>
        </p:txBody>
      </p:sp>
      <p:sp>
        <p:nvSpPr>
          <p:cNvPr id="1395421275" name="Rectangle 2"/>
          <p:cNvSpPr>
            <a:spLocks noChangeShapeType="1" noGrp="1"/>
          </p:cNvSpPr>
          <p:nvPr>
            <p:ph type="body"/>
          </p:nvPr>
        </p:nvSpPr>
        <p:spPr bwMode="auto">
          <a:xfrm>
            <a:off x="457200" y="1557337"/>
            <a:ext cx="8229600" cy="43799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342900" lvl="0" indent="-342900">
              <a:spcBef>
                <a:spcPts val="0"/>
              </a:spcBef>
              <a:buNone/>
              <a:defRPr/>
            </a:pPr>
            <a:r>
              <a:rPr lang="es-ES_tradnl"/>
              <a:t>Plataforma virtual:</a:t>
            </a:r>
            <a:endParaRPr/>
          </a:p>
          <a:p>
            <a:pPr marL="342900" lvl="0" indent="-342900">
              <a:spcBef>
                <a:spcPts val="0"/>
              </a:spcBef>
              <a:buChar char="-"/>
              <a:defRPr/>
            </a:pPr>
            <a:r>
              <a:rPr lang="es-ES_tradnl" sz="2000"/>
              <a:t>Clases Asincrónicas (15%)</a:t>
            </a:r>
            <a:endParaRPr/>
          </a:p>
          <a:p>
            <a:pPr marL="342900" lvl="0" indent="-342900">
              <a:spcBef>
                <a:spcPts val="0"/>
              </a:spcBef>
              <a:buChar char="-"/>
              <a:defRPr/>
            </a:pPr>
            <a:r>
              <a:rPr lang="es-ES_tradnl" sz="2000"/>
              <a:t>Programa y planificación</a:t>
            </a:r>
            <a:endParaRPr/>
          </a:p>
          <a:p>
            <a:pPr marL="342900" lvl="0" indent="-342900">
              <a:spcBef>
                <a:spcPts val="0"/>
              </a:spcBef>
              <a:buChar char="-"/>
              <a:defRPr/>
            </a:pPr>
            <a:r>
              <a:rPr lang="es-ES_tradnl" sz="2000"/>
              <a:t>Consultas</a:t>
            </a:r>
            <a:endParaRPr/>
          </a:p>
          <a:p>
            <a:pPr marL="342900" lvl="0" indent="-342900">
              <a:spcBef>
                <a:spcPts val="0"/>
              </a:spcBef>
              <a:buChar char="-"/>
              <a:defRPr/>
            </a:pPr>
            <a:r>
              <a:rPr lang="es-ES_tradnl" sz="2000"/>
              <a:t>Repositorio de apuntes y presentaciones (PP)</a:t>
            </a:r>
            <a:endParaRPr/>
          </a:p>
          <a:p>
            <a:pPr marL="342900" lvl="0" indent="-342900">
              <a:spcBef>
                <a:spcPts val="0"/>
              </a:spcBef>
              <a:buChar char="-"/>
              <a:defRPr/>
            </a:pPr>
            <a:r>
              <a:rPr lang="es-ES_tradnl" sz="2000"/>
              <a:t>Guía de actividades</a:t>
            </a:r>
            <a:endParaRPr/>
          </a:p>
          <a:p>
            <a:pPr marL="342900" lvl="0" indent="-342900">
              <a:spcBef>
                <a:spcPts val="0"/>
              </a:spcBef>
              <a:buChar char="-"/>
              <a:defRPr/>
            </a:pPr>
            <a:r>
              <a:rPr lang="es-ES_tradnl" sz="2000"/>
              <a:t>Presentación de trabajos</a:t>
            </a:r>
            <a:endParaRPr/>
          </a:p>
          <a:p>
            <a:pPr marL="342900" lvl="0" indent="-342900">
              <a:spcBef>
                <a:spcPts val="0"/>
              </a:spcBef>
              <a:buChar char="-"/>
              <a:defRPr/>
            </a:pPr>
            <a:r>
              <a:rPr lang="es-ES_tradnl" sz="2000"/>
              <a:t>Foro</a:t>
            </a:r>
            <a:endParaRPr/>
          </a:p>
          <a:p>
            <a:pPr marL="342900" lvl="0" indent="-342900">
              <a:spcBef>
                <a:spcPts val="0"/>
              </a:spcBef>
              <a:buChar char="-"/>
              <a:defRPr/>
            </a:pPr>
            <a:r>
              <a:rPr lang="es-ES_tradnl" sz="2000"/>
              <a:t>Resultado de evaluaciones</a:t>
            </a:r>
            <a:endParaRPr/>
          </a:p>
          <a:p>
            <a:pPr marL="342900" lvl="0" indent="-342900">
              <a:spcBef>
                <a:spcPts val="0"/>
              </a:spcBef>
              <a:buChar char="-"/>
              <a:defRPr/>
            </a:pPr>
            <a:r>
              <a:rPr lang="es-ES_tradnl" sz="2000"/>
              <a:t>Obligación de colocar fotografía</a:t>
            </a:r>
            <a:endParaRPr/>
          </a:p>
          <a:p>
            <a:pPr marL="342900" lvl="0" indent="-342900">
              <a:spcBef>
                <a:spcPts val="0"/>
              </a:spcBef>
              <a:buChar char="-"/>
              <a:defRPr/>
            </a:pPr>
            <a:r>
              <a:rPr lang="es-ES_tradnl" sz="2000"/>
              <a:t>Pw:</a:t>
            </a:r>
            <a:endParaRPr/>
          </a:p>
        </p:txBody>
      </p:sp>
      <p:sp>
        <p:nvSpPr>
          <p:cNvPr id="1694028781" name="Rectangle 3"/>
          <p:cNvSpPr>
            <a:spLocks noChangeShapeType="1" noGrp="1"/>
          </p:cNvSpPr>
          <p:nvPr/>
        </p:nvSpPr>
        <p:spPr bwMode="auto">
          <a:xfrm>
            <a:off x="2051050" y="360362"/>
            <a:ext cx="5184775" cy="457200"/>
          </a:xfrm>
          <a:prstGeom prst="rect">
            <a:avLst/>
          </a:prstGeom>
          <a:noFill/>
        </p:spPr>
        <p:txBody>
          <a:bodyPr lIns="91440" tIns="45720" rIns="91440" bIns="45720" anchor="ctr" anchorCtr="0">
            <a:spAutoFit/>
          </a:bodyPr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s-ES" sz="2400" b="1" i="0" u="sng">
                <a:solidFill>
                  <a:schemeClr val="accent2"/>
                </a:solidFill>
              </a:rPr>
              <a:t>ADMINISTRACIÓN DE RECURSOS</a:t>
            </a:r>
            <a:endParaRPr/>
          </a:p>
        </p:txBody>
      </p:sp>
      <p:sp>
        <p:nvSpPr>
          <p:cNvPr id="1410915565" name="Line 4"/>
          <p:cNvSpPr>
            <a:spLocks noChangeShapeType="1" noGrp="1"/>
          </p:cNvSpPr>
          <p:nvPr/>
        </p:nvSpPr>
        <p:spPr bwMode="auto">
          <a:xfrm>
            <a:off x="395287" y="1125537"/>
            <a:ext cx="8353425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7243517" name="4 Marcador de pie de página"/>
          <p:cNvSpPr txBox="1">
            <a:spLocks noChangeShapeType="1" noGrp="1"/>
          </p:cNvSpPr>
          <p:nvPr/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s-ES" sz="1400"/>
              <a:t>Administración de SI </a:t>
            </a:r>
            <a:endParaRPr/>
          </a:p>
        </p:txBody>
      </p:sp>
      <p:sp>
        <p:nvSpPr>
          <p:cNvPr id="1700374295" name="5 Marcador de número de diapositiva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s-ES" sz="1400"/>
              <a:t>*</a:t>
            </a:fld>
            <a:endParaRPr/>
          </a:p>
        </p:txBody>
      </p:sp>
      <p:sp>
        <p:nvSpPr>
          <p:cNvPr id="1871816797" name="Rectangle 2"/>
          <p:cNvSpPr>
            <a:spLocks noChangeShapeType="1" noGrp="1"/>
          </p:cNvSpPr>
          <p:nvPr>
            <p:ph type="body"/>
          </p:nvPr>
        </p:nvSpPr>
        <p:spPr bwMode="auto">
          <a:xfrm>
            <a:off x="457200" y="1557337"/>
            <a:ext cx="8229600" cy="453548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sz="1800" b="0" i="0" u="sng"/>
              <a:t>Formula que determina la nota final de AD</a:t>
            </a:r>
            <a:endParaRPr lang="en-US" sz="1800"/>
          </a:p>
          <a:p>
            <a:pPr marL="0" lvl="0" indent="0">
              <a:spcBef>
                <a:spcPts val="0"/>
              </a:spcBef>
              <a:buNone/>
              <a:defRPr/>
            </a:pPr>
            <a:r>
              <a:rPr sz="1800"/>
              <a:t> </a:t>
            </a:r>
            <a:endParaRPr/>
          </a:p>
          <a:p>
            <a:pPr marL="0" lvl="0" indent="0">
              <a:spcBef>
                <a:spcPts val="0"/>
              </a:spcBef>
              <a:buChar char="•"/>
              <a:defRPr/>
            </a:pPr>
            <a:r>
              <a:rPr sz="1800"/>
              <a:t>ETPG: Evaluación Trabajos Prácticos Grupales (1, 2, </a:t>
            </a:r>
            <a:r>
              <a:rPr sz="1800" b="0" i="0" u="none"/>
              <a:t>3 y 4)</a:t>
            </a:r>
            <a:endParaRPr lang="en-US" sz="1800"/>
          </a:p>
          <a:p>
            <a:pPr marL="0" lvl="0" indent="0">
              <a:spcBef>
                <a:spcPts val="0"/>
              </a:spcBef>
              <a:buChar char="•"/>
              <a:defRPr/>
            </a:pPr>
            <a:r>
              <a:rPr sz="1800" b="0" i="0" u="none"/>
              <a:t>EP: Evaluación Parcial (1, 2 y 3) o Nota de </a:t>
            </a:r>
            <a:r>
              <a:rPr sz="1800" b="0" i="0" u="none"/>
              <a:t>Recuperatorios (todos aprobados con 6)</a:t>
            </a:r>
            <a:endParaRPr lang="en-US" sz="1800"/>
          </a:p>
          <a:p>
            <a:pPr marL="0" lvl="0" indent="0">
              <a:spcBef>
                <a:spcPts val="0"/>
              </a:spcBef>
              <a:buChar char="•"/>
              <a:defRPr/>
            </a:pPr>
            <a:r>
              <a:rPr sz="1800" b="0" i="0" u="none"/>
              <a:t>TEyC: Trabajos Especiales y Conferencias (1, </a:t>
            </a:r>
            <a:r>
              <a:rPr sz="1800" b="0" i="0" u="none"/>
              <a:t>2 y 3)</a:t>
            </a:r>
            <a:endParaRPr lang="en-US" sz="1800"/>
          </a:p>
          <a:p>
            <a:pPr marL="0" lvl="0" indent="0">
              <a:spcBef>
                <a:spcPts val="0"/>
              </a:spcBef>
              <a:buChar char="•"/>
              <a:defRPr/>
            </a:pPr>
            <a:r>
              <a:rPr sz="1800" b="0" i="0" u="none"/>
              <a:t>EFI: Evaluación Final Integradora (Global)</a:t>
            </a:r>
            <a:endParaRPr/>
          </a:p>
          <a:p>
            <a:pPr marL="0" lvl="0" indent="0">
              <a:spcBef>
                <a:spcPts val="0"/>
              </a:spcBef>
              <a:buChar char="•"/>
              <a:defRPr/>
            </a:pPr>
            <a:r>
              <a:rPr sz="1800" b="0" i="0" u="none"/>
              <a:t>EC: Evaluación Continua (</a:t>
            </a:r>
            <a:r>
              <a:rPr sz="1800" b="1" i="0" u="none"/>
              <a:t>≥ al 70% </a:t>
            </a:r>
            <a:r>
              <a:rPr sz="1800" b="0" i="0" u="none"/>
              <a:t>de las entregas en tiempo y forma y participación en los debates)</a:t>
            </a:r>
            <a:endParaRPr/>
          </a:p>
          <a:p>
            <a:pPr marL="0" lvl="0" indent="0">
              <a:spcBef>
                <a:spcPts val="0"/>
              </a:spcBef>
              <a:buNone/>
              <a:defRPr/>
            </a:pPr>
            <a:r>
              <a:rPr sz="1800" b="0" i="0" u="none"/>
              <a:t> </a:t>
            </a:r>
            <a:endParaRPr/>
          </a:p>
          <a:p>
            <a:pPr marL="0" lvl="0" indent="0">
              <a:spcBef>
                <a:spcPts val="0"/>
              </a:spcBef>
              <a:buNone/>
              <a:defRPr/>
            </a:pPr>
            <a:r>
              <a:rPr sz="1800" b="1" i="0" u="none"/>
              <a:t> Nota= </a:t>
            </a:r>
            <a:r>
              <a:rPr sz="1600" b="1" i="0" u="none">
                <a:solidFill>
                  <a:srgbClr val="C00000"/>
                </a:solidFill>
              </a:rPr>
              <a:t>(Promedio(ETPG))*</a:t>
            </a:r>
            <a:r>
              <a:rPr sz="1600" b="1" i="0" u="none">
                <a:solidFill>
                  <a:srgbClr val="C00000"/>
                </a:solidFill>
              </a:rPr>
              <a:t>0.25+(</a:t>
            </a:r>
            <a:r>
              <a:rPr sz="1600" b="1" i="0" u="none">
                <a:solidFill>
                  <a:srgbClr val="C00000"/>
                </a:solidFill>
              </a:rPr>
              <a:t>Promedio(EP))*0.3+(Promedio(TEyC)*</a:t>
            </a:r>
            <a:r>
              <a:rPr sz="1600" b="1" i="0" u="none">
                <a:solidFill>
                  <a:srgbClr val="C00000"/>
                </a:solidFill>
              </a:rPr>
              <a:t>0.1+</a:t>
            </a:r>
            <a:r>
              <a:rPr sz="1600" b="1" i="0" u="none">
                <a:solidFill>
                  <a:srgbClr val="C00000"/>
                </a:solidFill>
              </a:rPr>
              <a:t>EC*0,05+EFI*</a:t>
            </a:r>
            <a:r>
              <a:rPr sz="1600" b="1" i="0" u="none">
                <a:solidFill>
                  <a:srgbClr val="C00000"/>
                </a:solidFill>
              </a:rPr>
              <a:t>0.3</a:t>
            </a:r>
            <a:endParaRPr lang="en-US" sz="1600"/>
          </a:p>
          <a:p>
            <a:pPr marL="0" lvl="0" indent="0">
              <a:spcBef>
                <a:spcPts val="0"/>
              </a:spcBef>
              <a:buNone/>
              <a:defRPr/>
            </a:pPr>
            <a:r>
              <a:rPr sz="1800" b="1" i="0" u="none"/>
              <a:t> </a:t>
            </a:r>
            <a:endParaRPr lang="en-US" sz="1800"/>
          </a:p>
          <a:p>
            <a:pPr marL="0" lvl="0" indent="0">
              <a:spcBef>
                <a:spcPts val="0"/>
              </a:spcBef>
              <a:buChar char="-"/>
              <a:defRPr/>
            </a:pPr>
            <a:endParaRPr sz="1800" b="1" i="0" u="none"/>
          </a:p>
        </p:txBody>
      </p:sp>
      <p:sp>
        <p:nvSpPr>
          <p:cNvPr id="553344342" name="Rectangle 3"/>
          <p:cNvSpPr>
            <a:spLocks noChangeShapeType="1" noGrp="1"/>
          </p:cNvSpPr>
          <p:nvPr/>
        </p:nvSpPr>
        <p:spPr bwMode="auto">
          <a:xfrm>
            <a:off x="2051050" y="360362"/>
            <a:ext cx="5184775" cy="457200"/>
          </a:xfrm>
          <a:prstGeom prst="rect">
            <a:avLst/>
          </a:prstGeom>
          <a:noFill/>
        </p:spPr>
        <p:txBody>
          <a:bodyPr lIns="91440" tIns="45720" rIns="91440" bIns="45720" anchor="ctr" anchorCtr="0">
            <a:spAutoFit/>
          </a:bodyPr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s-ES" sz="2400" b="1" i="0" u="sng">
                <a:solidFill>
                  <a:schemeClr val="accent2"/>
                </a:solidFill>
              </a:rPr>
              <a:t>ADMINISTRACIÓN DE RECURSOS</a:t>
            </a:r>
            <a:endParaRPr/>
          </a:p>
        </p:txBody>
      </p:sp>
      <p:sp>
        <p:nvSpPr>
          <p:cNvPr id="257544479" name="Line 4"/>
          <p:cNvSpPr>
            <a:spLocks noChangeShapeType="1" noGrp="1"/>
          </p:cNvSpPr>
          <p:nvPr/>
        </p:nvSpPr>
        <p:spPr bwMode="auto">
          <a:xfrm>
            <a:off x="395287" y="1125537"/>
            <a:ext cx="8353425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0981602" name="4 Marcador de pie de página"/>
          <p:cNvSpPr txBox="1">
            <a:spLocks noChangeShapeType="1" noGrp="1"/>
          </p:cNvSpPr>
          <p:nvPr/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s-ES" sz="1400"/>
              <a:t>AdAdministración de SI </a:t>
            </a:r>
            <a:endParaRPr/>
          </a:p>
        </p:txBody>
      </p:sp>
      <p:sp>
        <p:nvSpPr>
          <p:cNvPr id="19374367" name="5 Marcador de número de diapositiva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s-ES" sz="1400"/>
              <a:t>*</a:t>
            </a:fld>
            <a:endParaRPr/>
          </a:p>
        </p:txBody>
      </p:sp>
      <p:sp>
        <p:nvSpPr>
          <p:cNvPr id="1453204097" name="Rectangle 2"/>
          <p:cNvSpPr>
            <a:spLocks noChangeShapeType="1" noGrp="1"/>
          </p:cNvSpPr>
          <p:nvPr>
            <p:ph type="body"/>
          </p:nvPr>
        </p:nvSpPr>
        <p:spPr bwMode="auto">
          <a:xfrm>
            <a:off x="457200" y="1125537"/>
            <a:ext cx="8229600" cy="511968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342900" lvl="0" indent="-342900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es-ES_tradnl" sz="2000" b="1" i="0" u="none"/>
              <a:t>Competencias </a:t>
            </a:r>
            <a:r>
              <a:rPr lang="es-MX" sz="1600"/>
              <a:t>“Las competencias son procesos de actuación frente a actividades y problemas de un determinado contexto, integrando actitudes, conocimientos y capacidades, y teniendo como base la excelencia en lo que se hace, con base en criterios de idoneidad establecidos de forma pública.” (Tobón, 2004)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ts val="0"/>
              </a:spcBef>
              <a:buChar char="-"/>
              <a:defRPr/>
            </a:pPr>
            <a:endParaRPr lang="es-MX" sz="1600"/>
          </a:p>
          <a:p>
            <a:pPr marL="342900" lvl="0" indent="-342900">
              <a:lnSpc>
                <a:spcPct val="90000"/>
              </a:lnSpc>
              <a:spcBef>
                <a:spcPts val="0"/>
              </a:spcBef>
              <a:buNone/>
              <a:defRPr/>
            </a:pPr>
            <a:endParaRPr lang="es-MX" sz="1600"/>
          </a:p>
        </p:txBody>
      </p:sp>
      <p:sp>
        <p:nvSpPr>
          <p:cNvPr id="334776514" name="Rectangle 3"/>
          <p:cNvSpPr>
            <a:spLocks noChangeShapeType="1" noGrp="1"/>
          </p:cNvSpPr>
          <p:nvPr/>
        </p:nvSpPr>
        <p:spPr bwMode="auto">
          <a:xfrm>
            <a:off x="2051050" y="360362"/>
            <a:ext cx="5184775" cy="457200"/>
          </a:xfrm>
          <a:prstGeom prst="rect">
            <a:avLst/>
          </a:prstGeom>
          <a:noFill/>
        </p:spPr>
        <p:txBody>
          <a:bodyPr lIns="91440" tIns="45720" rIns="91440" bIns="45720" anchor="ctr" anchorCtr="0">
            <a:spAutoFit/>
          </a:bodyPr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s-ES" sz="2400" b="1" i="0" u="sng">
                <a:solidFill>
                  <a:schemeClr val="accent2"/>
                </a:solidFill>
              </a:rPr>
              <a:t>Universidad</a:t>
            </a:r>
            <a:endParaRPr/>
          </a:p>
        </p:txBody>
      </p:sp>
      <p:sp>
        <p:nvSpPr>
          <p:cNvPr id="1027061610" name="Line 4"/>
          <p:cNvSpPr>
            <a:spLocks noChangeShapeType="1" noGrp="1"/>
          </p:cNvSpPr>
          <p:nvPr/>
        </p:nvSpPr>
        <p:spPr bwMode="auto">
          <a:xfrm>
            <a:off x="395287" y="1125537"/>
            <a:ext cx="8353425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pic>
        <p:nvPicPr>
          <p:cNvPr id="623185711" name="Imagen 2"/>
          <p:cNvPicPr>
            <a:picLocks noChangeAspect="1" noGrp="1"/>
          </p:cNvPicPr>
          <p:nvPr/>
        </p:nvPicPr>
        <p:blipFill rotWithShape="1">
          <a:blip r:embed="rId3"/>
          <a:stretch/>
        </p:blipFill>
        <p:spPr bwMode="auto">
          <a:xfrm>
            <a:off x="1509712" y="2205037"/>
            <a:ext cx="6267450" cy="4348162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6566108" name="4 Marcador de pie de página"/>
          <p:cNvSpPr txBox="1">
            <a:spLocks noChangeShapeType="1" noGrp="1"/>
          </p:cNvSpPr>
          <p:nvPr/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s-ES" sz="1400"/>
              <a:t>AdAdministración de SI </a:t>
            </a:r>
            <a:endParaRPr/>
          </a:p>
        </p:txBody>
      </p:sp>
      <p:sp>
        <p:nvSpPr>
          <p:cNvPr id="23581715" name="5 Marcador de número de diapositiva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s-ES" sz="1400"/>
              <a:t>*</a:t>
            </a:fld>
            <a:endParaRPr/>
          </a:p>
        </p:txBody>
      </p:sp>
      <p:sp>
        <p:nvSpPr>
          <p:cNvPr id="715076503" name="Rectangle 2"/>
          <p:cNvSpPr>
            <a:spLocks noChangeShapeType="1" noGrp="1"/>
          </p:cNvSpPr>
          <p:nvPr>
            <p:ph type="body"/>
          </p:nvPr>
        </p:nvSpPr>
        <p:spPr bwMode="auto">
          <a:xfrm>
            <a:off x="457200" y="1125537"/>
            <a:ext cx="8229600" cy="511968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s-MX" sz="2000"/>
              <a:t>Cinco competencias de esta materia, según CONFEDI: </a:t>
            </a:r>
            <a:endParaRPr/>
          </a:p>
          <a:p>
            <a:pPr marL="0" lvl="0" indent="0">
              <a:spcBef>
                <a:spcPts val="0"/>
              </a:spcBef>
              <a:buAutoNum type="arabicParenR"/>
              <a:defRPr/>
            </a:pPr>
            <a:r>
              <a:rPr lang="es-AR" sz="1800" b="0" i="0" u="none"/>
              <a:t>Desempeñarse de manera efectiva en equipos de trabajo. </a:t>
            </a:r>
            <a:endParaRPr/>
          </a:p>
          <a:p>
            <a:pPr marL="0" lvl="0" indent="0">
              <a:spcBef>
                <a:spcPts val="0"/>
              </a:spcBef>
              <a:buAutoNum type="arabicParenR"/>
              <a:defRPr/>
            </a:pPr>
            <a:r>
              <a:rPr lang="es-AR" sz="1800" b="0" i="0" u="none"/>
              <a:t>Comunicarse con efectividad. </a:t>
            </a:r>
            <a:endParaRPr/>
          </a:p>
          <a:p>
            <a:pPr marL="0" lvl="0" indent="0">
              <a:spcBef>
                <a:spcPts val="0"/>
              </a:spcBef>
              <a:buAutoNum type="arabicParenR"/>
              <a:defRPr/>
            </a:pPr>
            <a:r>
              <a:rPr lang="es-AR" sz="1800" b="0" i="0" u="none"/>
              <a:t>Actuar con ética, responsabilidad profesional y compromiso social, considerando el impacto económico, social y ambiental de su actividad en el contexto local y global. </a:t>
            </a:r>
            <a:endParaRPr/>
          </a:p>
          <a:p>
            <a:pPr marL="0" lvl="0" indent="0">
              <a:spcBef>
                <a:spcPts val="0"/>
              </a:spcBef>
              <a:buAutoNum type="arabicParenR"/>
              <a:defRPr/>
            </a:pPr>
            <a:r>
              <a:rPr lang="es-AR" sz="1800" b="0" i="0" u="none"/>
              <a:t>Aprender en forma continua y autónoma. </a:t>
            </a:r>
            <a:endParaRPr/>
          </a:p>
          <a:p>
            <a:pPr marL="0" lvl="0" indent="0">
              <a:spcBef>
                <a:spcPts val="0"/>
              </a:spcBef>
              <a:buAutoNum type="arabicParenR"/>
              <a:defRPr/>
            </a:pPr>
            <a:r>
              <a:rPr lang="es-AR" sz="1800" b="0" i="0" u="none"/>
              <a:t>Actuar con espíritu emprendedor.</a:t>
            </a:r>
            <a:endParaRPr/>
          </a:p>
          <a:p>
            <a:pPr marL="0" lvl="0" indent="0">
              <a:lnSpc>
                <a:spcPct val="90000"/>
              </a:lnSpc>
              <a:spcBef>
                <a:spcPts val="0"/>
              </a:spcBef>
              <a:buNone/>
              <a:defRPr/>
            </a:pPr>
            <a:endParaRPr lang="es-AR" sz="1800" b="0" i="0" u="none"/>
          </a:p>
        </p:txBody>
      </p:sp>
      <p:sp>
        <p:nvSpPr>
          <p:cNvPr id="588202679" name="Rectangle 3"/>
          <p:cNvSpPr>
            <a:spLocks noChangeShapeType="1" noGrp="1"/>
          </p:cNvSpPr>
          <p:nvPr/>
        </p:nvSpPr>
        <p:spPr bwMode="auto">
          <a:xfrm>
            <a:off x="2051050" y="360362"/>
            <a:ext cx="5184775" cy="457200"/>
          </a:xfrm>
          <a:prstGeom prst="rect">
            <a:avLst/>
          </a:prstGeom>
          <a:noFill/>
        </p:spPr>
        <p:txBody>
          <a:bodyPr lIns="91440" tIns="45720" rIns="91440" bIns="45720" anchor="ctr" anchorCtr="0">
            <a:spAutoFit/>
          </a:bodyPr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s-ES" sz="2400" b="1" i="0" u="sng">
                <a:solidFill>
                  <a:schemeClr val="accent2"/>
                </a:solidFill>
              </a:rPr>
              <a:t>Universidad</a:t>
            </a:r>
            <a:endParaRPr/>
          </a:p>
        </p:txBody>
      </p:sp>
      <p:sp>
        <p:nvSpPr>
          <p:cNvPr id="2020945209" name="Line 4"/>
          <p:cNvSpPr>
            <a:spLocks noChangeShapeType="1" noGrp="1"/>
          </p:cNvSpPr>
          <p:nvPr/>
        </p:nvSpPr>
        <p:spPr bwMode="auto">
          <a:xfrm>
            <a:off x="395287" y="1125537"/>
            <a:ext cx="8353425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5815052" name="4 Marcador de pie de página"/>
          <p:cNvSpPr txBox="1">
            <a:spLocks noChangeShapeType="1" noGrp="1"/>
          </p:cNvSpPr>
          <p:nvPr/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s-ES" sz="1400"/>
              <a:t>Administración de SI </a:t>
            </a:r>
            <a:endParaRPr/>
          </a:p>
        </p:txBody>
      </p:sp>
      <p:sp>
        <p:nvSpPr>
          <p:cNvPr id="110767327" name="5 Marcador de número de diapositiva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s-ES" sz="1400"/>
              <a:t>*</a:t>
            </a:fld>
            <a:endParaRPr/>
          </a:p>
        </p:txBody>
      </p:sp>
      <p:sp>
        <p:nvSpPr>
          <p:cNvPr id="1844351893" name="Rectangle 2"/>
          <p:cNvSpPr>
            <a:spLocks noChangeShapeType="1" noGrp="1"/>
          </p:cNvSpPr>
          <p:nvPr>
            <p:ph type="body"/>
          </p:nvPr>
        </p:nvSpPr>
        <p:spPr bwMode="auto">
          <a:xfrm>
            <a:off x="457200" y="1125537"/>
            <a:ext cx="8229600" cy="48133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342900" lvl="0" indent="-342900">
              <a:lnSpc>
                <a:spcPct val="90000"/>
              </a:lnSpc>
              <a:spcBef>
                <a:spcPts val="0"/>
              </a:spcBef>
              <a:buChar char="-"/>
              <a:defRPr/>
            </a:pPr>
            <a:r>
              <a:rPr lang="es-AR" sz="2000"/>
              <a:t>Durante el año 2023, el 30 % de los trabajos en tecnología quedarán sin cubrir. (Diario la Voz)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ts val="0"/>
              </a:spcBef>
              <a:buChar char="-"/>
              <a:defRPr/>
            </a:pPr>
            <a:r>
              <a:rPr lang="es-AR" sz="2000"/>
              <a:t>En la próxima década, muchos de los trabajos de hoy serán obsoletos y </a:t>
            </a:r>
            <a:r>
              <a:rPr lang="es-AR" sz="2000" b="1" i="0" u="none"/>
              <a:t>el 65 % de los niños que están empezando la primaria, trabajarán en empleos que aún no existen (Clarin)</a:t>
            </a:r>
            <a:r>
              <a:rPr lang="es-AR" sz="2000"/>
              <a:t>.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ts val="0"/>
              </a:spcBef>
              <a:buChar char="-"/>
              <a:defRPr/>
            </a:pPr>
            <a:r>
              <a:rPr lang="es-AR" sz="2000"/>
              <a:t>Según el INET, </a:t>
            </a:r>
            <a:r>
              <a:rPr lang="es-AR" sz="2000" b="1" i="0" u="none"/>
              <a:t>el 51% de las empresas argentinas ya está enfrentando dificultades para contratar expertos en tecnología</a:t>
            </a:r>
            <a:r>
              <a:rPr lang="es-AR" sz="2000"/>
              <a:t>. Y las principales causas son la falta de competencia y la escasez de postulantes.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ts val="0"/>
              </a:spcBef>
              <a:buChar char="-"/>
              <a:defRPr/>
            </a:pPr>
            <a:r>
              <a:rPr lang="es-AR" sz="2000"/>
              <a:t>Demanda y como dan incentivos:</a:t>
            </a:r>
            <a:endParaRPr/>
          </a:p>
          <a:p>
            <a:pPr marL="742950" lvl="1" indent="-285750">
              <a:lnSpc>
                <a:spcPct val="90000"/>
              </a:lnSpc>
              <a:spcBef>
                <a:spcPts val="0"/>
              </a:spcBef>
              <a:buChar char="-"/>
              <a:defRPr/>
            </a:pPr>
            <a:r>
              <a:rPr lang="es-AR" sz="1800"/>
              <a:t>(Silice) buscan habilidades blandas y valores; ofrecen buen ambiente de trabajo y alta comunicación vertical</a:t>
            </a:r>
            <a:endParaRPr/>
          </a:p>
          <a:p>
            <a:pPr marL="742950" lvl="1" indent="-285750">
              <a:lnSpc>
                <a:spcPct val="90000"/>
              </a:lnSpc>
              <a:spcBef>
                <a:spcPts val="0"/>
              </a:spcBef>
              <a:buChar char="-"/>
              <a:defRPr/>
            </a:pPr>
            <a:r>
              <a:rPr lang="es-AR" sz="1800"/>
              <a:t>(Mercado libre) base técnica y trabajo en equipo; ofrecen que todos puedan emprender, desarrollando productos propios</a:t>
            </a:r>
            <a:endParaRPr/>
          </a:p>
          <a:p>
            <a:pPr marL="742950" lvl="1" indent="-285750">
              <a:lnSpc>
                <a:spcPct val="90000"/>
              </a:lnSpc>
              <a:spcBef>
                <a:spcPts val="0"/>
              </a:spcBef>
              <a:buChar char="-"/>
              <a:defRPr/>
            </a:pPr>
            <a:r>
              <a:rPr lang="es-AR" sz="1800"/>
              <a:t>(CEGA) buena base técnica, capacidad de aprendizaje y trabajo en equipo; posibilidades de crecimiento y capacitación permanente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ts val="0"/>
              </a:spcBef>
              <a:buNone/>
              <a:defRPr/>
            </a:pPr>
            <a:endParaRPr lang="es-AR" sz="1800"/>
          </a:p>
        </p:txBody>
      </p:sp>
      <p:sp>
        <p:nvSpPr>
          <p:cNvPr id="632549991" name="Rectangle 3"/>
          <p:cNvSpPr>
            <a:spLocks noChangeShapeType="1" noGrp="1"/>
          </p:cNvSpPr>
          <p:nvPr/>
        </p:nvSpPr>
        <p:spPr bwMode="auto">
          <a:xfrm>
            <a:off x="971550" y="358775"/>
            <a:ext cx="7272337" cy="460375"/>
          </a:xfrm>
          <a:prstGeom prst="rect">
            <a:avLst/>
          </a:prstGeom>
          <a:noFill/>
        </p:spPr>
        <p:txBody>
          <a:bodyPr lIns="91440" tIns="45720" rIns="91440" bIns="45720" anchor="ctr" anchorCtr="0">
            <a:spAutoFit/>
          </a:bodyPr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s-ES" sz="2400" b="1" i="0" u="sng">
                <a:solidFill>
                  <a:schemeClr val="accent2"/>
                </a:solidFill>
              </a:rPr>
              <a:t>Cifras de oferta y demanda profesional</a:t>
            </a:r>
            <a:endParaRPr/>
          </a:p>
        </p:txBody>
      </p:sp>
      <p:sp>
        <p:nvSpPr>
          <p:cNvPr id="1041123429" name="Line 4"/>
          <p:cNvSpPr>
            <a:spLocks noChangeShapeType="1" noGrp="1"/>
          </p:cNvSpPr>
          <p:nvPr/>
        </p:nvSpPr>
        <p:spPr bwMode="auto">
          <a:xfrm>
            <a:off x="395287" y="1125537"/>
            <a:ext cx="8353425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198261" name="4 Marcador de pie de página"/>
          <p:cNvSpPr txBox="1">
            <a:spLocks noChangeShapeType="1" noGrp="1"/>
          </p:cNvSpPr>
          <p:nvPr/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s-ES" sz="1400"/>
              <a:t>Administración de SI </a:t>
            </a:r>
            <a:endParaRPr/>
          </a:p>
        </p:txBody>
      </p:sp>
      <p:sp>
        <p:nvSpPr>
          <p:cNvPr id="2115912697" name="5 Marcador de número de diapositiva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s-ES" sz="1400"/>
              <a:t>*</a:t>
            </a:fld>
            <a:endParaRPr/>
          </a:p>
        </p:txBody>
      </p:sp>
      <p:sp>
        <p:nvSpPr>
          <p:cNvPr id="554926290" name="Rectangle 2"/>
          <p:cNvSpPr>
            <a:spLocks noChangeShapeType="1" noGrp="1"/>
          </p:cNvSpPr>
          <p:nvPr>
            <p:ph type="body"/>
          </p:nvPr>
        </p:nvSpPr>
        <p:spPr bwMode="auto">
          <a:xfrm>
            <a:off x="404812" y="1125537"/>
            <a:ext cx="8229600" cy="48133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342900" lvl="0" indent="-342900">
              <a:spcBef>
                <a:spcPts val="0"/>
              </a:spcBef>
              <a:buChar char="•"/>
              <a:defRPr/>
            </a:pPr>
            <a:r>
              <a:rPr lang="es-AR" sz="1800"/>
              <a:t>Vivencias: Agustín Soria tiene 25 años y desde hace 3 años, trabaja en Despegar, como diseñador de experiencia de usuario, justamente una de las profesiones que vio la luz en plena era digital y cuya gestora es la tecnología. Concretamente, su trabajo es </a:t>
            </a:r>
            <a:r>
              <a:rPr lang="es-AR" sz="1800" b="1" i="0" u="none"/>
              <a:t>entender cuáles son los problemas que tiene un usuario</a:t>
            </a:r>
            <a:r>
              <a:rPr lang="es-AR" sz="1800"/>
              <a:t> mientras está consumiendo el servicio. Al analizar ese comportamiento, se puede </a:t>
            </a:r>
            <a:r>
              <a:rPr lang="es-AR" sz="1800" b="1" i="0" u="none"/>
              <a:t>diseñar una mejor experiencia</a:t>
            </a:r>
            <a:r>
              <a:rPr lang="es-MX" sz="1800"/>
              <a:t> para el cliente. Si bien este perfil  es muy nuevo como carrera, los gigantes tecnológicos del mundo ya hace tiempo vienen reclutando profesionales que se dediquen a esto, o los van formando para esto.</a:t>
            </a:r>
            <a:endParaRPr/>
          </a:p>
          <a:p>
            <a:pPr marL="342900" lvl="0" indent="-342900">
              <a:spcBef>
                <a:spcPts val="0"/>
              </a:spcBef>
              <a:buChar char="•"/>
              <a:defRPr/>
            </a:pPr>
            <a:r>
              <a:rPr lang="es-MX" sz="1800"/>
              <a:t>Desde los cambios laborales, debido a la pandemia, el 40% de empresas de tecnologías, sigue con el formato de teletrabajo con sus empleados. (según iProUp)</a:t>
            </a:r>
            <a:endParaRPr/>
          </a:p>
          <a:p>
            <a:pPr marL="342900" lvl="0" indent="-342900">
              <a:spcBef>
                <a:spcPts val="0"/>
              </a:spcBef>
              <a:buChar char="•"/>
              <a:defRPr/>
            </a:pPr>
            <a:r>
              <a:rPr lang="es-MX" sz="1800"/>
              <a:t>Se requerirán de habilidades sociales que complementen esas habilidades técnicas, las llamadas “soft skills”. Son competencias sociales que resultan útiles para afrontar los desafíos competitivos que enfrentan los diferentes sectores y mercados. Son habilidades como: resolución de problemas, orientación a objetivos y colaboración, impulso, determinación y ambición de prosperar, más allá de su cualificación (infojobs.net)</a:t>
            </a:r>
            <a:endParaRPr lang="en-US" sz="2000"/>
          </a:p>
          <a:p>
            <a:pPr marL="342900" lvl="0" indent="-342900">
              <a:lnSpc>
                <a:spcPct val="90000"/>
              </a:lnSpc>
              <a:spcBef>
                <a:spcPts val="0"/>
              </a:spcBef>
              <a:buNone/>
              <a:defRPr/>
            </a:pPr>
            <a:endParaRPr lang="es-MX" sz="1800"/>
          </a:p>
        </p:txBody>
      </p:sp>
      <p:sp>
        <p:nvSpPr>
          <p:cNvPr id="1685089320" name="Rectangle 3"/>
          <p:cNvSpPr>
            <a:spLocks noChangeShapeType="1" noGrp="1"/>
          </p:cNvSpPr>
          <p:nvPr/>
        </p:nvSpPr>
        <p:spPr bwMode="auto">
          <a:xfrm>
            <a:off x="971550" y="358775"/>
            <a:ext cx="7272337" cy="460375"/>
          </a:xfrm>
          <a:prstGeom prst="rect">
            <a:avLst/>
          </a:prstGeom>
          <a:noFill/>
        </p:spPr>
        <p:txBody>
          <a:bodyPr lIns="91440" tIns="45720" rIns="91440" bIns="45720" anchor="ctr" anchorCtr="0">
            <a:spAutoFit/>
          </a:bodyPr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s-ES" sz="2400" b="1" i="0" u="sng">
                <a:solidFill>
                  <a:schemeClr val="accent2"/>
                </a:solidFill>
              </a:rPr>
              <a:t>Cifras de oferta y demanda profesional</a:t>
            </a:r>
            <a:endParaRPr/>
          </a:p>
        </p:txBody>
      </p:sp>
      <p:sp>
        <p:nvSpPr>
          <p:cNvPr id="487250771" name="Line 4"/>
          <p:cNvSpPr>
            <a:spLocks noChangeShapeType="1" noGrp="1"/>
          </p:cNvSpPr>
          <p:nvPr/>
        </p:nvSpPr>
        <p:spPr bwMode="auto">
          <a:xfrm>
            <a:off x="395287" y="1125537"/>
            <a:ext cx="8353425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9391256" name="4 Marcador de pie de página"/>
          <p:cNvSpPr txBox="1">
            <a:spLocks noChangeShapeType="1" noGrp="1"/>
          </p:cNvSpPr>
          <p:nvPr/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s-ES" sz="1400"/>
              <a:t>AdAdministración de SI </a:t>
            </a:r>
            <a:endParaRPr/>
          </a:p>
        </p:txBody>
      </p:sp>
      <p:sp>
        <p:nvSpPr>
          <p:cNvPr id="2077089465" name="5 Marcador de número de diapositiva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s-ES" sz="1400"/>
              <a:t>*</a:t>
            </a:fld>
            <a:endParaRPr/>
          </a:p>
        </p:txBody>
      </p:sp>
      <p:sp>
        <p:nvSpPr>
          <p:cNvPr id="1318883948" name="Rectangle 2"/>
          <p:cNvSpPr>
            <a:spLocks noChangeShapeType="1" noGrp="1"/>
          </p:cNvSpPr>
          <p:nvPr>
            <p:ph type="body"/>
          </p:nvPr>
        </p:nvSpPr>
        <p:spPr bwMode="auto">
          <a:xfrm>
            <a:off x="457200" y="1557337"/>
            <a:ext cx="8229600" cy="468788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342900" lvl="0" indent="-342900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es-ES_tradnl" sz="2000" b="1" i="0" u="none"/>
              <a:t>(valores oficiales 2021)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ts val="0"/>
              </a:spcBef>
              <a:buChar char="-"/>
              <a:defRPr/>
            </a:pPr>
            <a:r>
              <a:rPr lang="es-ES_tradnl" sz="2000"/>
              <a:t>Estudiantes universitarios Argentina: 1.95 M  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ts val="0"/>
              </a:spcBef>
              <a:buChar char="-"/>
              <a:defRPr/>
            </a:pPr>
            <a:r>
              <a:rPr lang="es-ES_tradnl" sz="2000"/>
              <a:t>Universidades estatales: 1.45 M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ts val="0"/>
              </a:spcBef>
              <a:buChar char="-"/>
              <a:defRPr/>
            </a:pPr>
            <a:r>
              <a:rPr lang="es-ES_tradnl" sz="2000"/>
              <a:t>Universidades privadas: 0.5 M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ts val="0"/>
              </a:spcBef>
              <a:buChar char="-"/>
              <a:defRPr/>
            </a:pPr>
            <a:r>
              <a:rPr lang="es-ES_tradnl" sz="2000"/>
              <a:t>Universidades estatales en tamaño: (1º UBA, 2º UNC, 3º UTN (1º FBA, 2º FRC, 3º FRM))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ts val="0"/>
              </a:spcBef>
              <a:buChar char="-"/>
              <a:defRPr/>
            </a:pPr>
            <a:r>
              <a:rPr lang="es-ES_tradnl" sz="2000"/>
              <a:t>Estudiantes de Ingeniería en Argentina: 140 K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ts val="0"/>
              </a:spcBef>
              <a:buChar char="-"/>
              <a:defRPr/>
            </a:pPr>
            <a:r>
              <a:rPr lang="es-ES_tradnl" sz="2000"/>
              <a:t>Estudiantes de la UTN: 64 K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ts val="0"/>
              </a:spcBef>
              <a:buChar char="-"/>
              <a:defRPr/>
            </a:pPr>
            <a:r>
              <a:rPr lang="es-ES_tradnl" sz="2000"/>
              <a:t>Egresados de Ingeniería (2019): 4.9 K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ts val="0"/>
              </a:spcBef>
              <a:buChar char="-"/>
              <a:defRPr/>
            </a:pPr>
            <a:r>
              <a:rPr lang="es-ES_tradnl" sz="2000"/>
              <a:t>Egresados de Ingeniería de la UTN (2019): 2.4 K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ts val="0"/>
              </a:spcBef>
              <a:buChar char="-"/>
              <a:defRPr/>
            </a:pPr>
            <a:r>
              <a:rPr lang="es-ES_tradnl" sz="2000"/>
              <a:t>Egresados Promedio duración de la carrera en años : Electrónica (10), Civil (8,2), Sistemas (8), Química (8)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ts val="0"/>
              </a:spcBef>
              <a:buChar char="-"/>
              <a:defRPr/>
            </a:pPr>
            <a:endParaRPr lang="es-ES_tradnl" sz="2000"/>
          </a:p>
          <a:p>
            <a:pPr marL="342900" lvl="0" indent="-342900">
              <a:lnSpc>
                <a:spcPct val="90000"/>
              </a:lnSpc>
              <a:spcBef>
                <a:spcPts val="0"/>
              </a:spcBef>
              <a:buNone/>
              <a:defRPr/>
            </a:pPr>
            <a:endParaRPr lang="es-ES_tradnl" sz="2000"/>
          </a:p>
        </p:txBody>
      </p:sp>
      <p:sp>
        <p:nvSpPr>
          <p:cNvPr id="869519562" name="Rectangle 3"/>
          <p:cNvSpPr>
            <a:spLocks noChangeShapeType="1" noGrp="1"/>
          </p:cNvSpPr>
          <p:nvPr/>
        </p:nvSpPr>
        <p:spPr bwMode="auto">
          <a:xfrm>
            <a:off x="2051050" y="360362"/>
            <a:ext cx="5184775" cy="457200"/>
          </a:xfrm>
          <a:prstGeom prst="rect">
            <a:avLst/>
          </a:prstGeom>
          <a:noFill/>
        </p:spPr>
        <p:txBody>
          <a:bodyPr lIns="91440" tIns="45720" rIns="91440" bIns="45720" anchor="ctr" anchorCtr="0">
            <a:spAutoFit/>
          </a:bodyPr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s-ES" sz="2400" b="1" i="0" u="sng">
                <a:solidFill>
                  <a:schemeClr val="accent2"/>
                </a:solidFill>
              </a:rPr>
              <a:t>Universidad</a:t>
            </a:r>
            <a:endParaRPr/>
          </a:p>
        </p:txBody>
      </p:sp>
      <p:sp>
        <p:nvSpPr>
          <p:cNvPr id="2141618443" name="Line 4"/>
          <p:cNvSpPr>
            <a:spLocks noChangeShapeType="1" noGrp="1"/>
          </p:cNvSpPr>
          <p:nvPr/>
        </p:nvSpPr>
        <p:spPr bwMode="auto">
          <a:xfrm>
            <a:off x="395287" y="1125537"/>
            <a:ext cx="8353425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603785" name="4 Marcador de pie de página"/>
          <p:cNvSpPr txBox="1">
            <a:spLocks noChangeShapeType="1" noGrp="1"/>
          </p:cNvSpPr>
          <p:nvPr/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s-ES" sz="1400"/>
              <a:t>Administración de SI </a:t>
            </a:r>
            <a:endParaRPr/>
          </a:p>
        </p:txBody>
      </p:sp>
      <p:sp>
        <p:nvSpPr>
          <p:cNvPr id="745430913" name="5 Marcador de número de diapositiva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s-ES" sz="1400"/>
              <a:t>*</a:t>
            </a:fld>
            <a:endParaRPr/>
          </a:p>
        </p:txBody>
      </p:sp>
      <p:sp>
        <p:nvSpPr>
          <p:cNvPr id="1043599780" name="Rectangle 2"/>
          <p:cNvSpPr>
            <a:spLocks noChangeShapeType="1" noGrp="1"/>
          </p:cNvSpPr>
          <p:nvPr>
            <p:ph type="body"/>
          </p:nvPr>
        </p:nvSpPr>
        <p:spPr bwMode="auto">
          <a:xfrm>
            <a:off x="457200" y="1557337"/>
            <a:ext cx="8229600" cy="468788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342900" lvl="0" indent="-342900">
              <a:lnSpc>
                <a:spcPct val="90000"/>
              </a:lnSpc>
              <a:spcBef>
                <a:spcPts val="0"/>
              </a:spcBef>
              <a:buChar char="-"/>
              <a:defRPr/>
            </a:pPr>
            <a:r>
              <a:rPr lang="es-MX" sz="2400" b="1" i="0" u="none"/>
              <a:t>"El trabajo va a ocupar gran parte de sus vidas, y la única forma de estar realmente satisfecho es hacer lo que consideren un trabajo extraordinario. Y el único camino para lograrlo es amando lo que hacen. Si no lo han descubierto aún, sigan intentando. No se conformen".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ts val="0"/>
              </a:spcBef>
              <a:buChar char="-"/>
              <a:defRPr/>
            </a:pPr>
            <a:endParaRPr lang="en-US" sz="2400"/>
          </a:p>
          <a:p>
            <a:pPr marL="342900" lvl="0" indent="-342900">
              <a:lnSpc>
                <a:spcPct val="90000"/>
              </a:lnSpc>
              <a:spcBef>
                <a:spcPts val="0"/>
              </a:spcBef>
              <a:buChar char="-"/>
              <a:defRPr/>
            </a:pPr>
            <a:r>
              <a:rPr lang="es-MX" sz="2400" b="1" i="0" u="none"/>
              <a:t>“Stay hungry, stay foolish”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ts val="0"/>
              </a:spcBef>
              <a:buNone/>
              <a:defRPr/>
            </a:pPr>
            <a:br>
              <a:rPr lang="es-MX" sz="2000"/>
            </a:br>
            <a:r>
              <a:rPr lang="es-MX" sz="2000" b="0" i="1" u="none"/>
              <a:t>Discurso de Steve Jobs, en la Universidad de Stanford, en 2005</a:t>
            </a:r>
            <a:endParaRPr/>
          </a:p>
        </p:txBody>
      </p:sp>
      <p:sp>
        <p:nvSpPr>
          <p:cNvPr id="1336917247" name="Rectangle 3"/>
          <p:cNvSpPr>
            <a:spLocks noChangeShapeType="1" noGrp="1"/>
          </p:cNvSpPr>
          <p:nvPr/>
        </p:nvSpPr>
        <p:spPr bwMode="auto">
          <a:xfrm>
            <a:off x="2051050" y="360362"/>
            <a:ext cx="5184775" cy="457200"/>
          </a:xfrm>
          <a:prstGeom prst="rect">
            <a:avLst/>
          </a:prstGeom>
          <a:noFill/>
        </p:spPr>
        <p:txBody>
          <a:bodyPr lIns="91440" tIns="45720" rIns="91440" bIns="45720" anchor="ctr" anchorCtr="0">
            <a:spAutoFit/>
          </a:bodyPr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s-ES" sz="2400" b="1" i="0" u="sng">
                <a:solidFill>
                  <a:schemeClr val="accent2"/>
                </a:solidFill>
              </a:rPr>
              <a:t>Universidad</a:t>
            </a:r>
            <a:endParaRPr/>
          </a:p>
        </p:txBody>
      </p:sp>
      <p:sp>
        <p:nvSpPr>
          <p:cNvPr id="1944255157" name="Line 4"/>
          <p:cNvSpPr>
            <a:spLocks noChangeShapeType="1" noGrp="1"/>
          </p:cNvSpPr>
          <p:nvPr/>
        </p:nvSpPr>
        <p:spPr bwMode="auto">
          <a:xfrm>
            <a:off x="395287" y="1125537"/>
            <a:ext cx="8353425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4716444" name="4 Marcador de pie de página"/>
          <p:cNvSpPr txBox="1">
            <a:spLocks noChangeShapeType="1" noGrp="1"/>
          </p:cNvSpPr>
          <p:nvPr/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s-ES" sz="1400"/>
              <a:t>Administración de SI </a:t>
            </a:r>
            <a:endParaRPr/>
          </a:p>
        </p:txBody>
      </p:sp>
      <p:sp>
        <p:nvSpPr>
          <p:cNvPr id="1076183545" name="5 Marcador de número de diapositiva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s-ES" sz="1400"/>
              <a:t>*</a:t>
            </a:fld>
            <a:endParaRPr/>
          </a:p>
        </p:txBody>
      </p:sp>
      <p:sp>
        <p:nvSpPr>
          <p:cNvPr id="405668282" name="Rectangle 2"/>
          <p:cNvSpPr>
            <a:spLocks noChangeShapeType="1" noGrp="1"/>
          </p:cNvSpPr>
          <p:nvPr>
            <p:ph type="body"/>
          </p:nvPr>
        </p:nvSpPr>
        <p:spPr bwMode="auto">
          <a:xfrm>
            <a:off x="457200" y="1557337"/>
            <a:ext cx="8229600" cy="48244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342900" lvl="0" indent="-342900">
              <a:lnSpc>
                <a:spcPct val="90000"/>
              </a:lnSpc>
              <a:spcBef>
                <a:spcPts val="0"/>
              </a:spcBef>
              <a:buChar char="-"/>
              <a:defRPr/>
            </a:pPr>
            <a:endParaRPr lang="en-US" sz="2000"/>
          </a:p>
          <a:p>
            <a:pPr marL="342900" lvl="0" indent="-342900">
              <a:lnSpc>
                <a:spcPct val="90000"/>
              </a:lnSpc>
              <a:spcBef>
                <a:spcPts val="0"/>
              </a:spcBef>
              <a:buChar char="-"/>
              <a:defRPr/>
            </a:pPr>
            <a:endParaRPr lang="en-US" sz="2000"/>
          </a:p>
          <a:p>
            <a:pPr marL="342900" lvl="0" indent="-342900" algn="ctr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es-ES_tradnl" sz="2400" b="1" i="1" u="none"/>
              <a:t>“Tener una dimensión de donde están y de qué forman parte, les ayudará a involucrarse aún más en lo que han elegido”</a:t>
            </a:r>
            <a:endParaRPr/>
          </a:p>
          <a:p>
            <a:pPr marL="342900" lvl="0" indent="-342900" algn="ctr">
              <a:lnSpc>
                <a:spcPct val="90000"/>
              </a:lnSpc>
              <a:spcBef>
                <a:spcPts val="0"/>
              </a:spcBef>
              <a:buNone/>
              <a:defRPr/>
            </a:pPr>
            <a:endParaRPr lang="en-US" sz="2400"/>
          </a:p>
          <a:p>
            <a:pPr marL="342900" lvl="0" indent="-342900" algn="ctr">
              <a:lnSpc>
                <a:spcPct val="90000"/>
              </a:lnSpc>
              <a:spcBef>
                <a:spcPts val="0"/>
              </a:spcBef>
              <a:buNone/>
              <a:defRPr/>
            </a:pPr>
            <a:endParaRPr lang="en-US" sz="2400"/>
          </a:p>
          <a:p>
            <a:pPr marL="342900" lvl="0" indent="-342900" algn="ctr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es-ES_tradnl" sz="2400" b="1" i="1" u="none"/>
              <a:t>¡Suerte y buen 2025!</a:t>
            </a:r>
            <a:endParaRPr/>
          </a:p>
          <a:p>
            <a:pPr marL="342900" lvl="0" indent="-342900" algn="ctr">
              <a:lnSpc>
                <a:spcPct val="90000"/>
              </a:lnSpc>
              <a:spcBef>
                <a:spcPts val="0"/>
              </a:spcBef>
              <a:buNone/>
              <a:defRPr/>
            </a:pPr>
            <a:endParaRPr lang="en-US" sz="2400"/>
          </a:p>
          <a:p>
            <a:pPr marL="342900" lvl="0" indent="-342900" algn="ctr">
              <a:lnSpc>
                <a:spcPct val="90000"/>
              </a:lnSpc>
              <a:spcBef>
                <a:spcPts val="0"/>
              </a:spcBef>
              <a:buNone/>
              <a:defRPr/>
            </a:pPr>
            <a:endParaRPr lang="en-US" sz="2400"/>
          </a:p>
          <a:p>
            <a:pPr marL="342900" lvl="0" indent="-342900" algn="ctr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es-ES_tradnl" sz="2400" b="1" i="1" u="none"/>
              <a:t>					</a:t>
            </a:r>
            <a:r>
              <a:rPr lang="es-ES_tradnl" sz="2000" b="1" i="1" u="none"/>
              <a:t>Prof.</a:t>
            </a:r>
            <a:r>
              <a:rPr lang="es-ES_tradnl" sz="2400" b="1" i="1" u="none"/>
              <a:t> </a:t>
            </a:r>
            <a:r>
              <a:rPr lang="es-ES_tradnl" sz="2000" b="1" i="1" u="none"/>
              <a:t>Ing.</a:t>
            </a:r>
            <a:r>
              <a:rPr lang="es-ES_tradnl" sz="2400" b="1" i="1" u="none"/>
              <a:t> </a:t>
            </a:r>
            <a:r>
              <a:rPr lang="es-ES_tradnl" sz="2000" b="1" i="1" u="none"/>
              <a:t>Julio Cuenca</a:t>
            </a:r>
            <a:endParaRPr/>
          </a:p>
        </p:txBody>
      </p:sp>
      <p:sp>
        <p:nvSpPr>
          <p:cNvPr id="567371670" name="Rectangle 3"/>
          <p:cNvSpPr>
            <a:spLocks noChangeShapeType="1" noGrp="1"/>
          </p:cNvSpPr>
          <p:nvPr/>
        </p:nvSpPr>
        <p:spPr bwMode="auto">
          <a:xfrm>
            <a:off x="2051050" y="360362"/>
            <a:ext cx="5184775" cy="457200"/>
          </a:xfrm>
          <a:prstGeom prst="rect">
            <a:avLst/>
          </a:prstGeom>
          <a:noFill/>
        </p:spPr>
        <p:txBody>
          <a:bodyPr lIns="91440" tIns="45720" rIns="91440" bIns="45720" anchor="ctr" anchorCtr="0">
            <a:spAutoFit/>
          </a:bodyPr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s-ES" sz="2400" b="1" i="0" u="sng">
                <a:solidFill>
                  <a:schemeClr val="accent2"/>
                </a:solidFill>
              </a:rPr>
              <a:t>Universidad</a:t>
            </a:r>
            <a:endParaRPr/>
          </a:p>
        </p:txBody>
      </p:sp>
      <p:sp>
        <p:nvSpPr>
          <p:cNvPr id="1791884343" name="Line 4"/>
          <p:cNvSpPr>
            <a:spLocks noChangeShapeType="1" noGrp="1"/>
          </p:cNvSpPr>
          <p:nvPr/>
        </p:nvSpPr>
        <p:spPr bwMode="auto">
          <a:xfrm>
            <a:off x="395287" y="1125537"/>
            <a:ext cx="8353425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Diseño predeterminado">
  <a:themeElements>
    <a:clrScheme name="Default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009999"/>
      </a:hlink>
      <a:folHlink>
        <a:srgbClr val="99CC00"/>
      </a:folHlink>
    </a:clrScheme>
    <a:fontScheme name="default">
      <a:majorFont>
        <a:latin typeface="Arial"/>
        <a:ea typeface="Arial"/>
        <a:cs typeface="Arial"/>
      </a:majorFont>
      <a:minorFont>
        <a:latin typeface="Calibri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Default">
  <a:themeElements>
    <a:clrScheme name="Default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009999"/>
      </a:hlink>
      <a:folHlink>
        <a:srgbClr val="99CC00"/>
      </a:folHlink>
    </a:clrScheme>
    <a:fontScheme name="default">
      <a:majorFont>
        <a:latin typeface="Arial"/>
        <a:ea typeface="Arial"/>
        <a:cs typeface="Arial"/>
      </a:majorFont>
      <a:minorFont>
        <a:latin typeface="Calibri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17</Slides>
  <Notes>17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Administración de Recursos</dc:title>
  <dc:creator>Julio Cuenca</dc:creator>
  <cp:lastModifiedBy/>
  <cp:revision>73</cp:revision>
  <dcterms:created xsi:type="dcterms:W3CDTF">2007-03-21T14:12:00Z</dcterms:created>
  <dcterms:modified xsi:type="dcterms:W3CDTF">2026-03-18T17:49:27Z</dcterms:modified>
</cp:coreProperties>
</file>